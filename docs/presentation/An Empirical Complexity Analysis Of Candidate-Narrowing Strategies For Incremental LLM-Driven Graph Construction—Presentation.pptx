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6858000" cx="12192000"/>
  <p:notesSz cx="6858000" cy="9144000"/>
  <p:embeddedFontLst>
    <p:embeddedFont>
      <p:font typeface="IBM Plex Sans"/>
      <p:regular r:id="rId58"/>
      <p:bold r:id="rId59"/>
      <p:italic r:id="rId60"/>
      <p:boldItalic r:id="rId61"/>
    </p:embeddedFont>
    <p:embeddedFont>
      <p:font typeface="Garamond"/>
      <p:regular r:id="rId62"/>
      <p:bold r:id="rId63"/>
      <p:italic r:id="rId64"/>
      <p:boldItalic r:id="rId65"/>
    </p:embeddedFont>
    <p:embeddedFont>
      <p:font typeface="Source Serif 4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0" roundtripDataSignature="AMtx7mjblZquVDnKWLiK6gSzGEklM64U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7CC67D-CC92-4324-9B05-023ADF34413E}">
  <a:tblStyle styleId="{E07CC67D-CC92-4324-9B05-023ADF3441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0421629-3B28-4E87-9D99-BD921BF515C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customschemas.google.com/relationships/presentationmetadata" Target="meta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Garamond-regular.fntdata"/><Relationship Id="rId61" Type="http://schemas.openxmlformats.org/officeDocument/2006/relationships/font" Target="fonts/IBMPlexSans-boldItalic.fntdata"/><Relationship Id="rId20" Type="http://schemas.openxmlformats.org/officeDocument/2006/relationships/slide" Target="slides/slide15.xml"/><Relationship Id="rId64" Type="http://schemas.openxmlformats.org/officeDocument/2006/relationships/font" Target="fonts/Garamond-italic.fntdata"/><Relationship Id="rId63" Type="http://schemas.openxmlformats.org/officeDocument/2006/relationships/font" Target="fonts/Garamond-bold.fntdata"/><Relationship Id="rId22" Type="http://schemas.openxmlformats.org/officeDocument/2006/relationships/slide" Target="slides/slide17.xml"/><Relationship Id="rId66" Type="http://schemas.openxmlformats.org/officeDocument/2006/relationships/font" Target="fonts/SourceSerif4-regular.fntdata"/><Relationship Id="rId21" Type="http://schemas.openxmlformats.org/officeDocument/2006/relationships/slide" Target="slides/slide16.xml"/><Relationship Id="rId65" Type="http://schemas.openxmlformats.org/officeDocument/2006/relationships/font" Target="fonts/Garamond-boldItalic.fntdata"/><Relationship Id="rId24" Type="http://schemas.openxmlformats.org/officeDocument/2006/relationships/slide" Target="slides/slide19.xml"/><Relationship Id="rId68" Type="http://schemas.openxmlformats.org/officeDocument/2006/relationships/font" Target="fonts/SourceSerif4-italic.fntdata"/><Relationship Id="rId23" Type="http://schemas.openxmlformats.org/officeDocument/2006/relationships/slide" Target="slides/slide18.xml"/><Relationship Id="rId67" Type="http://schemas.openxmlformats.org/officeDocument/2006/relationships/font" Target="fonts/SourceSerif4-bold.fntdata"/><Relationship Id="rId60" Type="http://schemas.openxmlformats.org/officeDocument/2006/relationships/font" Target="fonts/IBMPlexSans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SourceSerif4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IBMPlexSans-bold.fntdata"/><Relationship Id="rId14" Type="http://schemas.openxmlformats.org/officeDocument/2006/relationships/slide" Target="slides/slide9.xml"/><Relationship Id="rId58" Type="http://schemas.openxmlformats.org/officeDocument/2006/relationships/font" Target="fonts/IBMPlexSans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641e64ea653f54d4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h641e64ea653f54d4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h641e64ea653f54d4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641e64ea653f54d4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h641e64ea653f54d4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h641e64ea653f54d4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641e64ea653f54d4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h641e64ea653f54d4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h641e64ea653f54d4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641e64ea653f54d4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h641e64ea653f54d4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h641e64ea653f54d4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641e64ea653f54d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h641e64ea653f54d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h641e64ea653f54d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641e64ea653f54d4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h641e64ea653f54d4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h641e64ea653f54d4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641e64ea653f54d4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h641e64ea653f54d4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h641e64ea653f54d4_0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7b5e62cd08914865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h7b5e62cd08914865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h7b5e62cd08914865_0_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h7b5e62cd08914865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h7b5e62cd08914865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h7b5e62cd08914865_0_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13a01eb761e6d8e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h13a01eb761e6d8e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h13a01eb761e6d8e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h13a01eb761e6d8e8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h13a01eb761e6d8e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h13a01eb761e6d8e8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13a01eb761e6d8e8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h13a01eb761e6d8e8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h13a01eb761e6d8e8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13a01eb761e6d8e8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h13a01eb761e6d8e8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h13a01eb761e6d8e8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13a01eb761e6d8e8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h13a01eb761e6d8e8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h13a01eb761e6d8e8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13a01eb761e6d8e8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h13a01eb761e6d8e8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h13a01eb761e6d8e8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13a01eb761e6d8e8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h13a01eb761e6d8e8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h13a01eb761e6d8e8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13a01eb761e6d8e8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h13a01eb761e6d8e8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h13a01eb761e6d8e8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13a01eb761e6d8e8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h13a01eb761e6d8e8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h13a01eb761e6d8e8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13a01eb761e6d8e8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h13a01eb761e6d8e8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h13a01eb761e6d8e8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bf52a1989321739_1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hbf52a1989321739_1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hbf52a1989321739_1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77111e4a44aed05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77111e4a44aed05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77111e4a44aed05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77111e4a44aed05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77111e4a44aed05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77111e4a44aed052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bf52a1989321739_1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hbf52a1989321739_1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hbf52a1989321739_1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77111e4a44aed052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77111e4a44aed052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77111e4a44aed052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hbf52a1989321739_1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hbf52a1989321739_1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hbf52a1989321739_1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hbf52a1989321739_1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hbf52a1989321739_1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hbf52a1989321739_1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77111e4a44aed052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77111e4a44aed052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77111e4a44aed052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hbf52a1989321739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hbf52a1989321739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hbf52a1989321739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77111e4a44aed052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77111e4a44aed052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77111e4a44aed052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hbf52a1989321739_1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hbf52a1989321739_1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hbf52a1989321739_1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77111e4a44aed052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77111e4a44aed052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77111e4a44aed052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hbf52a1989321739_1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hbf52a1989321739_1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hbf52a1989321739_1_1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77111e4a44aed052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77111e4a44aed052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77111e4a44aed052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hbf52a1989321739_1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hbf52a1989321739_1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hbf52a1989321739_1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1dd01f28c2d3f4c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h1dd01f28c2d3f4c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h1dd01f28c2d3f4c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hbf52a1989321739_1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hbf52a1989321739_1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hbf52a1989321739_1_1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h1dd01f28c2d3f4cd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h1dd01f28c2d3f4cd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h1dd01f28c2d3f4cd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hbf52a1989321739_1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hbf52a1989321739_1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hbf52a1989321739_1_2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hbf52a1989321739_1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hbf52a1989321739_1_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hbf52a1989321739_1_2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ont Main">
  <p:cSld name="Front Mai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104"/>
            <a:ext cx="12192000" cy="6855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Intro">
  <p:cSld name="Title Intr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104"/>
            <a:ext cx="12192000" cy="685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2"/>
          <p:cNvSpPr txBox="1"/>
          <p:nvPr>
            <p:ph type="title"/>
          </p:nvPr>
        </p:nvSpPr>
        <p:spPr>
          <a:xfrm>
            <a:off x="1630680" y="1344168"/>
            <a:ext cx="8930640" cy="23770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7200"/>
              <a:buFont typeface="Garamond"/>
              <a:buNone/>
              <a:defRPr b="1" sz="7200">
                <a:solidFill>
                  <a:srgbClr val="0C4B05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" type="body"/>
          </p:nvPr>
        </p:nvSpPr>
        <p:spPr>
          <a:xfrm>
            <a:off x="1630680" y="3748215"/>
            <a:ext cx="8930640" cy="1316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3200"/>
              <a:buNone/>
              <a:defRPr sz="32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Intro">
  <p:cSld name="Chapter Intr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104"/>
            <a:ext cx="12192000" cy="685579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3"/>
          <p:cNvSpPr txBox="1"/>
          <p:nvPr>
            <p:ph type="title"/>
          </p:nvPr>
        </p:nvSpPr>
        <p:spPr>
          <a:xfrm>
            <a:off x="831850" y="1344168"/>
            <a:ext cx="9948926" cy="23770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7200"/>
              <a:buFont typeface="Garamond"/>
              <a:buNone/>
              <a:defRPr b="1" sz="7200">
                <a:solidFill>
                  <a:srgbClr val="0C4B05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" type="body"/>
          </p:nvPr>
        </p:nvSpPr>
        <p:spPr>
          <a:xfrm>
            <a:off x="831850" y="3748215"/>
            <a:ext cx="9948926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3200"/>
              <a:buNone/>
              <a:defRPr sz="32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ro">
  <p:cSld name="Outro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104"/>
            <a:ext cx="12192000" cy="685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7578916" y="2142862"/>
            <a:ext cx="2003234" cy="419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" name="Google Shape;31;p24"/>
          <p:cNvSpPr txBox="1"/>
          <p:nvPr>
            <p:ph idx="2" type="body"/>
          </p:nvPr>
        </p:nvSpPr>
        <p:spPr>
          <a:xfrm>
            <a:off x="7578916" y="2561963"/>
            <a:ext cx="276523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24"/>
          <p:cNvSpPr txBox="1"/>
          <p:nvPr>
            <p:ph idx="3" type="body"/>
          </p:nvPr>
        </p:nvSpPr>
        <p:spPr>
          <a:xfrm>
            <a:off x="7578916" y="2981062"/>
            <a:ext cx="3517709" cy="652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24"/>
          <p:cNvSpPr txBox="1"/>
          <p:nvPr>
            <p:ph idx="4" type="body"/>
          </p:nvPr>
        </p:nvSpPr>
        <p:spPr>
          <a:xfrm>
            <a:off x="7578916" y="4638413"/>
            <a:ext cx="411778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24"/>
          <p:cNvSpPr txBox="1"/>
          <p:nvPr>
            <p:ph idx="5" type="body"/>
          </p:nvPr>
        </p:nvSpPr>
        <p:spPr>
          <a:xfrm>
            <a:off x="7578916" y="5038463"/>
            <a:ext cx="411778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ront Alternative">
  <p:cSld name="Front Alternativ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5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Content 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09"/>
            <a:ext cx="12192000" cy="685579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6"/>
          <p:cNvSpPr txBox="1"/>
          <p:nvPr>
            <p:ph type="title"/>
          </p:nvPr>
        </p:nvSpPr>
        <p:spPr>
          <a:xfrm>
            <a:off x="839788" y="844359"/>
            <a:ext cx="10515600" cy="92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aramond"/>
              <a:buNone/>
              <a:defRPr b="1" sz="6000"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839788" y="1941694"/>
            <a:ext cx="6577012" cy="652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0"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6"/>
          <p:cNvSpPr txBox="1"/>
          <p:nvPr>
            <p:ph idx="2" type="body"/>
          </p:nvPr>
        </p:nvSpPr>
        <p:spPr>
          <a:xfrm>
            <a:off x="839788" y="2635105"/>
            <a:ext cx="6577012" cy="35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  <p:sp>
        <p:nvSpPr>
          <p:cNvPr id="45" name="Google Shape;45;p26"/>
          <p:cNvSpPr/>
          <p:nvPr>
            <p:ph idx="3" type="pic"/>
          </p:nvPr>
        </p:nvSpPr>
        <p:spPr>
          <a:xfrm>
            <a:off x="7645400" y="1941695"/>
            <a:ext cx="3706812" cy="416084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ontent 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104"/>
            <a:ext cx="12192000" cy="685579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  <p:sp>
        <p:nvSpPr>
          <p:cNvPr id="51" name="Google Shape;51;p27"/>
          <p:cNvSpPr txBox="1"/>
          <p:nvPr>
            <p:ph type="title"/>
          </p:nvPr>
        </p:nvSpPr>
        <p:spPr>
          <a:xfrm>
            <a:off x="839788" y="844359"/>
            <a:ext cx="10515600" cy="92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aramond"/>
              <a:buNone/>
              <a:defRPr b="1" sz="6000"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" type="body"/>
          </p:nvPr>
        </p:nvSpPr>
        <p:spPr>
          <a:xfrm>
            <a:off x="839788" y="1941694"/>
            <a:ext cx="6577012" cy="652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0"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7"/>
          <p:cNvSpPr txBox="1"/>
          <p:nvPr>
            <p:ph idx="2" type="body"/>
          </p:nvPr>
        </p:nvSpPr>
        <p:spPr>
          <a:xfrm>
            <a:off x="839788" y="2635105"/>
            <a:ext cx="6577012" cy="35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7"/>
          <p:cNvSpPr/>
          <p:nvPr>
            <p:ph idx="3" type="pic"/>
          </p:nvPr>
        </p:nvSpPr>
        <p:spPr>
          <a:xfrm>
            <a:off x="7645400" y="1941695"/>
            <a:ext cx="3706812" cy="416084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ontent 3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104"/>
            <a:ext cx="12192000" cy="685579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  <p:sp>
        <p:nvSpPr>
          <p:cNvPr id="60" name="Google Shape;60;p28"/>
          <p:cNvSpPr txBox="1"/>
          <p:nvPr>
            <p:ph type="title"/>
          </p:nvPr>
        </p:nvSpPr>
        <p:spPr>
          <a:xfrm>
            <a:off x="838200" y="844359"/>
            <a:ext cx="9942512" cy="92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aramond"/>
              <a:buNone/>
              <a:defRPr b="1" sz="6000"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" type="body"/>
          </p:nvPr>
        </p:nvSpPr>
        <p:spPr>
          <a:xfrm>
            <a:off x="839788" y="1941694"/>
            <a:ext cx="9942512" cy="652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0"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28"/>
          <p:cNvSpPr txBox="1"/>
          <p:nvPr>
            <p:ph idx="2" type="body"/>
          </p:nvPr>
        </p:nvSpPr>
        <p:spPr>
          <a:xfrm>
            <a:off x="839788" y="2635105"/>
            <a:ext cx="9942512" cy="3535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ro w/o Phone">
  <p:cSld name="Outro w/o Phon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7578916" y="2142862"/>
            <a:ext cx="2003234" cy="419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29"/>
          <p:cNvSpPr txBox="1"/>
          <p:nvPr>
            <p:ph idx="2" type="body"/>
          </p:nvPr>
        </p:nvSpPr>
        <p:spPr>
          <a:xfrm>
            <a:off x="7578916" y="2561963"/>
            <a:ext cx="276523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29"/>
          <p:cNvSpPr txBox="1"/>
          <p:nvPr>
            <p:ph idx="3" type="body"/>
          </p:nvPr>
        </p:nvSpPr>
        <p:spPr>
          <a:xfrm>
            <a:off x="7578916" y="2981062"/>
            <a:ext cx="3517709" cy="652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29"/>
          <p:cNvSpPr txBox="1"/>
          <p:nvPr>
            <p:ph idx="4" type="body"/>
          </p:nvPr>
        </p:nvSpPr>
        <p:spPr>
          <a:xfrm>
            <a:off x="7578916" y="4638413"/>
            <a:ext cx="411778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29"/>
          <p:cNvSpPr txBox="1"/>
          <p:nvPr>
            <p:ph idx="5" type="body"/>
          </p:nvPr>
        </p:nvSpPr>
        <p:spPr>
          <a:xfrm>
            <a:off x="7578916" y="5038463"/>
            <a:ext cx="411778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pic>
        <p:nvPicPr>
          <p:cNvPr id="69" name="Google Shape;6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09"/>
            <a:ext cx="12192000" cy="685579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9"/>
          <p:cNvSpPr txBox="1"/>
          <p:nvPr>
            <p:ph idx="6" type="body"/>
          </p:nvPr>
        </p:nvSpPr>
        <p:spPr>
          <a:xfrm>
            <a:off x="7578916" y="2106286"/>
            <a:ext cx="2003234" cy="419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29"/>
          <p:cNvSpPr txBox="1"/>
          <p:nvPr>
            <p:ph idx="7" type="body"/>
          </p:nvPr>
        </p:nvSpPr>
        <p:spPr>
          <a:xfrm>
            <a:off x="7578916" y="2516243"/>
            <a:ext cx="276523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29"/>
          <p:cNvSpPr txBox="1"/>
          <p:nvPr>
            <p:ph idx="8" type="body"/>
          </p:nvPr>
        </p:nvSpPr>
        <p:spPr>
          <a:xfrm>
            <a:off x="7578916" y="4601837"/>
            <a:ext cx="411778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29"/>
          <p:cNvSpPr txBox="1"/>
          <p:nvPr>
            <p:ph idx="9" type="body"/>
          </p:nvPr>
        </p:nvSpPr>
        <p:spPr>
          <a:xfrm>
            <a:off x="7578916" y="5001887"/>
            <a:ext cx="411778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  <a:defRPr b="1" sz="1600">
                <a:solidFill>
                  <a:srgbClr val="0C4B0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/>
          <p:nvPr>
            <p:ph type="title"/>
          </p:nvPr>
        </p:nvSpPr>
        <p:spPr>
          <a:xfrm>
            <a:off x="1630675" y="1545974"/>
            <a:ext cx="8930700" cy="29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PH" sz="5400"/>
              <a:t>An Empirical Complexity Analysis Of Candidate</a:t>
            </a:r>
            <a:r>
              <a:rPr lang="en-PH" sz="5400"/>
              <a:t>-</a:t>
            </a:r>
            <a:r>
              <a:rPr lang="en-PH" sz="5400"/>
              <a:t>Narrowing Strategies For Incremental LLM</a:t>
            </a:r>
            <a:r>
              <a:rPr lang="en-PH" sz="5400"/>
              <a:t>-</a:t>
            </a:r>
            <a:r>
              <a:rPr lang="en-PH" sz="5400"/>
              <a:t>Driven Graph Construction</a:t>
            </a:r>
            <a:endParaRPr sz="5400"/>
          </a:p>
        </p:txBody>
      </p:sp>
      <p:sp>
        <p:nvSpPr>
          <p:cNvPr id="84" name="Google Shape;84;p2"/>
          <p:cNvSpPr txBox="1"/>
          <p:nvPr/>
        </p:nvSpPr>
        <p:spPr>
          <a:xfrm>
            <a:off x="3674850" y="4783897"/>
            <a:ext cx="4842300" cy="1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Adrian Luke A. Labasan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Alejandrei Jazz F. Lopez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Geila May C. Rigayen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2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Melvie Jeanna O. Abad</a:t>
            </a:r>
            <a:endParaRPr sz="2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>
            <p:ph type="title"/>
          </p:nvPr>
        </p:nvSpPr>
        <p:spPr>
          <a:xfrm>
            <a:off x="1630680" y="2696128"/>
            <a:ext cx="8930640" cy="8733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5400"/>
              <a:buFont typeface="Garamond"/>
              <a:buNone/>
            </a:pPr>
            <a:r>
              <a:rPr lang="en-PH" sz="5400"/>
              <a:t>Chapter I</a:t>
            </a:r>
            <a:endParaRPr/>
          </a:p>
        </p:txBody>
      </p:sp>
      <p:sp>
        <p:nvSpPr>
          <p:cNvPr id="90" name="Google Shape;90;p3"/>
          <p:cNvSpPr txBox="1"/>
          <p:nvPr>
            <p:ph idx="1" type="body"/>
          </p:nvPr>
        </p:nvSpPr>
        <p:spPr>
          <a:xfrm>
            <a:off x="2677862" y="3569500"/>
            <a:ext cx="6836276" cy="2696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3200"/>
              <a:buNone/>
            </a:pPr>
            <a:r>
              <a:rPr lang="en-PH"/>
              <a:t>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>
            <p:ph idx="1" type="body"/>
          </p:nvPr>
        </p:nvSpPr>
        <p:spPr>
          <a:xfrm>
            <a:off x="341725" y="2085750"/>
            <a:ext cx="5466300" cy="45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PH" sz="3000"/>
              <a:t>What is a knowledge graph?</a:t>
            </a:r>
            <a:endParaRPr b="1" sz="3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A graph is made of nodes (concepts) connected by edges (relationships).</a:t>
            </a:r>
            <a:endParaRPr sz="290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A knowledge graph uses this </a:t>
            </a:r>
            <a:r>
              <a:rPr b="1" lang="en-PH" sz="2900"/>
              <a:t>to show how ideas relate</a:t>
            </a:r>
            <a:r>
              <a:rPr lang="en-PH" sz="2900"/>
              <a:t>, e.g., Calculus requires Limits.</a:t>
            </a:r>
            <a:endParaRPr sz="290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Used in web search, recommendation systems, and education.</a:t>
            </a:r>
            <a:endParaRPr sz="2900"/>
          </a:p>
        </p:txBody>
      </p:sp>
      <p:sp>
        <p:nvSpPr>
          <p:cNvPr id="97" name="Google Shape;97;p4"/>
          <p:cNvSpPr txBox="1"/>
          <p:nvPr>
            <p:ph idx="1" type="body"/>
          </p:nvPr>
        </p:nvSpPr>
        <p:spPr>
          <a:xfrm>
            <a:off x="5717325" y="2085750"/>
            <a:ext cx="5084400" cy="4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/>
              <a:t>How are they built today?</a:t>
            </a:r>
            <a:endParaRPr b="1" sz="3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Before: domain experts built them by hand. Accurate, but it doesn’t scale.</a:t>
            </a:r>
            <a:endParaRPr sz="290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Now: Large Language Models (LLMs) can read text and extract concepts and relationships automatically.</a:t>
            </a:r>
            <a:endParaRPr sz="2900"/>
          </a:p>
        </p:txBody>
      </p:sp>
      <p:sp>
        <p:nvSpPr>
          <p:cNvPr id="98" name="Google Shape;98;p4"/>
          <p:cNvSpPr txBox="1"/>
          <p:nvPr>
            <p:ph type="title"/>
          </p:nvPr>
        </p:nvSpPr>
        <p:spPr>
          <a:xfrm>
            <a:off x="1704025" y="1301933"/>
            <a:ext cx="8130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2900"/>
              <a:t>BACKGROUND OF THE STUDY</a:t>
            </a:r>
            <a:endParaRPr sz="6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641e64ea653f54d4_0_21"/>
          <p:cNvSpPr txBox="1"/>
          <p:nvPr>
            <p:ph idx="1" type="body"/>
          </p:nvPr>
        </p:nvSpPr>
        <p:spPr>
          <a:xfrm>
            <a:off x="377975" y="1785525"/>
            <a:ext cx="7591800" cy="44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PH" sz="3000"/>
              <a:t>The problem: knowledge keeps growing</a:t>
            </a:r>
            <a:endParaRPr b="1" sz="30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2500"/>
          </a:p>
          <a:p>
            <a:pPr indent="-4127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Most systems build the graph once, i</a:t>
            </a:r>
            <a:r>
              <a:rPr b="1" lang="en-PH" sz="2900"/>
              <a:t>n a single batch.</a:t>
            </a:r>
            <a:endParaRPr b="1" sz="2900"/>
          </a:p>
          <a:p>
            <a:pPr indent="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-4127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But new concepts keep appearing (a new course topic, a new technique).</a:t>
            </a:r>
            <a:endParaRPr sz="2900"/>
          </a:p>
          <a:p>
            <a:pPr indent="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4127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Rebuilding the whole graph for one new concept is wasteful.</a:t>
            </a:r>
            <a:endParaRPr sz="2900"/>
          </a:p>
          <a:p>
            <a:pPr indent="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4127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This is the incremental insertion problem: </a:t>
            </a:r>
            <a:r>
              <a:rPr b="1" lang="en-PH" sz="2900"/>
              <a:t>How do we connect one new concept to an existing graph without re-checking every node?</a:t>
            </a:r>
            <a:endParaRPr b="1" sz="2900"/>
          </a:p>
        </p:txBody>
      </p:sp>
      <p:pic>
        <p:nvPicPr>
          <p:cNvPr id="105" name="Google Shape;105;h641e64ea653f54d4_0_21"/>
          <p:cNvPicPr preferRelativeResize="0"/>
          <p:nvPr/>
        </p:nvPicPr>
        <p:blipFill rotWithShape="1">
          <a:blip r:embed="rId3">
            <a:alphaModFix/>
          </a:blip>
          <a:srcRect b="0" l="23981" r="27226" t="0"/>
          <a:stretch/>
        </p:blipFill>
        <p:spPr>
          <a:xfrm>
            <a:off x="8069995" y="2121325"/>
            <a:ext cx="3015330" cy="41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641e64ea653f54d4_0_48"/>
          <p:cNvSpPr txBox="1"/>
          <p:nvPr>
            <p:ph idx="1" type="body"/>
          </p:nvPr>
        </p:nvSpPr>
        <p:spPr>
          <a:xfrm>
            <a:off x="663050" y="1830750"/>
            <a:ext cx="7161300" cy="37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>
                <a:solidFill>
                  <a:schemeClr val="dk2"/>
                </a:solidFill>
              </a:rPr>
              <a:t>Why brute force doesn’t work</a:t>
            </a:r>
            <a:endParaRPr b="1" sz="3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●"/>
            </a:pPr>
            <a:r>
              <a:rPr lang="en-PH" sz="2900">
                <a:solidFill>
                  <a:schemeClr val="dk2"/>
                </a:solidFill>
              </a:rPr>
              <a:t>Asking an LLM to compare the new concept against every existing node </a:t>
            </a:r>
            <a:r>
              <a:rPr b="1" lang="en-PH" sz="2900">
                <a:solidFill>
                  <a:schemeClr val="dk2"/>
                </a:solidFill>
              </a:rPr>
              <a:t>needs “a huge number of queries” [1].</a:t>
            </a:r>
            <a:endParaRPr b="1" sz="2900">
              <a:solidFill>
                <a:schemeClr val="dk2"/>
              </a:solidFill>
            </a:endParaRPr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●"/>
            </a:pPr>
            <a:r>
              <a:rPr lang="en-PH" sz="2900">
                <a:solidFill>
                  <a:schemeClr val="dk2"/>
                </a:solidFill>
              </a:rPr>
              <a:t>Funk et al. [1] reported 22–50 LLM prompts per concept, costing $0.11–$12.45, and this grows as the graph grows.</a:t>
            </a:r>
            <a:endParaRPr b="1" sz="2900"/>
          </a:p>
        </p:txBody>
      </p:sp>
      <p:pic>
        <p:nvPicPr>
          <p:cNvPr id="112" name="Google Shape;112;h641e64ea653f54d4_0_48"/>
          <p:cNvPicPr preferRelativeResize="0"/>
          <p:nvPr/>
        </p:nvPicPr>
        <p:blipFill rotWithShape="1">
          <a:blip r:embed="rId3">
            <a:alphaModFix/>
          </a:blip>
          <a:srcRect b="0" l="23981" r="27226" t="0"/>
          <a:stretch/>
        </p:blipFill>
        <p:spPr>
          <a:xfrm>
            <a:off x="7824225" y="1785525"/>
            <a:ext cx="3261100" cy="44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641e64ea653f54d4_0_30"/>
          <p:cNvSpPr txBox="1"/>
          <p:nvPr>
            <p:ph idx="1" type="body"/>
          </p:nvPr>
        </p:nvSpPr>
        <p:spPr>
          <a:xfrm>
            <a:off x="420900" y="1671375"/>
            <a:ext cx="7168800" cy="50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/>
              <a:t>The solution: candidate narrowing</a:t>
            </a:r>
            <a:endParaRPr b="1" sz="3000"/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4127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Step 1: use a cheap method (e.g., embeddings) to shortlist likely candidates.</a:t>
            </a:r>
            <a:endParaRPr sz="2900"/>
          </a:p>
          <a:p>
            <a:pPr indent="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4127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Step 2: use the LLM only on that shortlist.</a:t>
            </a:r>
            <a:endParaRPr sz="2900"/>
          </a:p>
          <a:p>
            <a:pPr indent="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4127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Existing approaches:</a:t>
            </a:r>
            <a:endParaRPr sz="2900"/>
          </a:p>
          <a:p>
            <a:pPr indent="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412750" lvl="1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2900"/>
              <a:buChar char="○"/>
            </a:pPr>
            <a:r>
              <a:rPr b="1" lang="en-PH" sz="2900">
                <a:solidFill>
                  <a:srgbClr val="0C4B05"/>
                </a:solidFill>
              </a:rPr>
              <a:t>iText2KG [2]</a:t>
            </a:r>
            <a:r>
              <a:rPr lang="en-PH" sz="2900">
                <a:solidFill>
                  <a:srgbClr val="0C4B05"/>
                </a:solidFill>
              </a:rPr>
              <a:t>: cosine-similarity threshold (~0.6)</a:t>
            </a:r>
            <a:endParaRPr sz="2900">
              <a:solidFill>
                <a:srgbClr val="0C4B05"/>
              </a:solidFill>
            </a:endParaRPr>
          </a:p>
          <a:p>
            <a:pPr indent="0" lvl="0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C4B05"/>
              </a:solidFill>
            </a:endParaRPr>
          </a:p>
          <a:p>
            <a:pPr indent="-412750" lvl="1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2900"/>
              <a:buChar char="○"/>
            </a:pPr>
            <a:r>
              <a:rPr b="1" lang="en-PH" sz="2900">
                <a:solidFill>
                  <a:srgbClr val="0C4B05"/>
                </a:solidFill>
              </a:rPr>
              <a:t>SAC-KG [3]:</a:t>
            </a:r>
            <a:r>
              <a:rPr lang="en-PH" sz="2900">
                <a:solidFill>
                  <a:srgbClr val="0C4B05"/>
                </a:solidFill>
              </a:rPr>
              <a:t> learned pruning, tested at over 1 million nodes</a:t>
            </a:r>
            <a:endParaRPr sz="2900">
              <a:solidFill>
                <a:srgbClr val="0C4B05"/>
              </a:solidFill>
            </a:endParaRPr>
          </a:p>
          <a:p>
            <a:pPr indent="0" lvl="0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C4B05"/>
              </a:solidFill>
            </a:endParaRPr>
          </a:p>
          <a:p>
            <a:pPr indent="-412750" lvl="1" marL="9144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2900"/>
              <a:buChar char="○"/>
            </a:pPr>
            <a:r>
              <a:rPr b="1" lang="en-PH" sz="2900">
                <a:solidFill>
                  <a:srgbClr val="0C4B05"/>
                </a:solidFill>
              </a:rPr>
              <a:t>EraRAG [4]:</a:t>
            </a:r>
            <a:r>
              <a:rPr lang="en-PH" sz="2900">
                <a:solidFill>
                  <a:srgbClr val="0C4B05"/>
                </a:solidFill>
              </a:rPr>
              <a:t> size-bounded “buckets,” with a proof that insertion cost shouldn’t grow with graph size</a:t>
            </a:r>
            <a:endParaRPr sz="2900">
              <a:solidFill>
                <a:srgbClr val="0C4B05"/>
              </a:solidFill>
            </a:endParaRPr>
          </a:p>
        </p:txBody>
      </p:sp>
      <p:pic>
        <p:nvPicPr>
          <p:cNvPr id="119" name="Google Shape;119;h641e64ea653f54d4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9950" y="2593400"/>
            <a:ext cx="2959150" cy="295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641e64ea653f54d4_0_55"/>
          <p:cNvSpPr txBox="1"/>
          <p:nvPr>
            <p:ph idx="1" type="body"/>
          </p:nvPr>
        </p:nvSpPr>
        <p:spPr>
          <a:xfrm>
            <a:off x="567175" y="1672525"/>
            <a:ext cx="6559200" cy="49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/>
              <a:t>The research gaps</a:t>
            </a:r>
            <a:endParaRPr b="1" sz="3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Gap 1:</a:t>
            </a:r>
            <a:r>
              <a:rPr lang="en-PH" sz="2900"/>
              <a:t> </a:t>
            </a:r>
            <a:r>
              <a:rPr lang="en-PH" sz="2900"/>
              <a:t>No study measures insertion cost as a function of graph size. Costs are reported only in aggregate.</a:t>
            </a:r>
            <a:endParaRPr sz="2900"/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Gap 2:</a:t>
            </a:r>
            <a:r>
              <a:rPr lang="en-PH" sz="2900"/>
              <a:t> No study compares narrowing strategies against each other under the same task and measurements.</a:t>
            </a:r>
            <a:endParaRPr sz="2900"/>
          </a:p>
        </p:txBody>
      </p:sp>
      <p:pic>
        <p:nvPicPr>
          <p:cNvPr id="126" name="Google Shape;126;h641e64ea653f54d4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6075" y="1905875"/>
            <a:ext cx="4760825" cy="3574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641e64ea653f54d4_0_0"/>
          <p:cNvSpPr txBox="1"/>
          <p:nvPr>
            <p:ph idx="1" type="body"/>
          </p:nvPr>
        </p:nvSpPr>
        <p:spPr>
          <a:xfrm>
            <a:off x="294400" y="2120600"/>
            <a:ext cx="10754700" cy="58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PH" sz="3000"/>
              <a:t>How can a new concept be added to an LLM-built knowledge graph without checking every existing node?</a:t>
            </a:r>
            <a:endParaRPr b="1"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PH" sz="2900"/>
              <a:t>RQ1: </a:t>
            </a:r>
            <a:r>
              <a:rPr lang="en-PH" sz="2900"/>
              <a:t>How do time and LLM calls per insertion change as the graph grows?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PH" sz="2900"/>
              <a:t>RQ2: </a:t>
            </a:r>
            <a:r>
              <a:rPr lang="en-PH" sz="2900"/>
              <a:t>Does placement accuracy hold up as the graph grows?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PH" sz="2900"/>
              <a:t>RQ3:</a:t>
            </a:r>
            <a:r>
              <a:rPr lang="en-PH" sz="2900"/>
              <a:t> How do the four strategies compare under identical conditions?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PH" sz="2900"/>
              <a:t>RQ4:</a:t>
            </a:r>
            <a:r>
              <a:rPr lang="en-PH" sz="2900"/>
              <a:t> Does the cost of a single insertion stay flat under a bucket-capped strategy?</a:t>
            </a:r>
            <a:endParaRPr sz="2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3200"/>
              <a:buNone/>
            </a:pPr>
            <a:r>
              <a:t/>
            </a:r>
            <a:endParaRPr sz="2900"/>
          </a:p>
        </p:txBody>
      </p:sp>
      <p:sp>
        <p:nvSpPr>
          <p:cNvPr id="133" name="Google Shape;133;h641e64ea653f54d4_0_0"/>
          <p:cNvSpPr txBox="1"/>
          <p:nvPr>
            <p:ph type="title"/>
          </p:nvPr>
        </p:nvSpPr>
        <p:spPr>
          <a:xfrm>
            <a:off x="1704025" y="1301933"/>
            <a:ext cx="8130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2900"/>
              <a:t>STATEMENT OF THE PROBLEM</a:t>
            </a:r>
            <a:endParaRPr sz="6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641e64ea653f54d4_0_76"/>
          <p:cNvSpPr txBox="1"/>
          <p:nvPr>
            <p:ph idx="1" type="body"/>
          </p:nvPr>
        </p:nvSpPr>
        <p:spPr>
          <a:xfrm>
            <a:off x="213350" y="2056400"/>
            <a:ext cx="10703400" cy="1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PH" sz="2900"/>
              <a:t>General:</a:t>
            </a:r>
            <a:r>
              <a:rPr lang="en-PH" sz="2900"/>
              <a:t> Characterize and compare the cost and accuracy of narrowing strategies as the graph grows.</a:t>
            </a:r>
            <a:endParaRPr sz="2900"/>
          </a:p>
        </p:txBody>
      </p:sp>
      <p:sp>
        <p:nvSpPr>
          <p:cNvPr id="140" name="Google Shape;140;h641e64ea653f54d4_0_76"/>
          <p:cNvSpPr txBox="1"/>
          <p:nvPr>
            <p:ph idx="1" type="body"/>
          </p:nvPr>
        </p:nvSpPr>
        <p:spPr>
          <a:xfrm>
            <a:off x="213350" y="3070400"/>
            <a:ext cx="5628300" cy="4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PH" sz="2800">
                <a:solidFill>
                  <a:schemeClr val="dk2"/>
                </a:solidFill>
              </a:rPr>
              <a:t>Specific:</a:t>
            </a:r>
            <a:endParaRPr b="1" sz="2800">
              <a:solidFill>
                <a:schemeClr val="dk2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AutoNum type="arabicPeriod"/>
            </a:pPr>
            <a:r>
              <a:rPr lang="en-PH" sz="2800">
                <a:solidFill>
                  <a:schemeClr val="dk2"/>
                </a:solidFill>
              </a:rPr>
              <a:t>Implement 4 strategies:</a:t>
            </a:r>
            <a:endParaRPr sz="2800">
              <a:solidFill>
                <a:schemeClr val="dk2"/>
              </a:solidFill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</a:pPr>
            <a:r>
              <a:rPr lang="en-PH" sz="2800">
                <a:solidFill>
                  <a:schemeClr val="dk2"/>
                </a:solidFill>
              </a:rPr>
              <a:t>brute-force LLM comparison</a:t>
            </a:r>
            <a:endParaRPr sz="2800">
              <a:solidFill>
                <a:schemeClr val="dk2"/>
              </a:solidFill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</a:pPr>
            <a:r>
              <a:rPr lang="en-PH" sz="2800">
                <a:solidFill>
                  <a:schemeClr val="dk2"/>
                </a:solidFill>
              </a:rPr>
              <a:t>embedding-similarity thresholding</a:t>
            </a:r>
            <a:endParaRPr sz="2800">
              <a:solidFill>
                <a:schemeClr val="dk2"/>
              </a:solidFill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</a:pPr>
            <a:r>
              <a:rPr lang="en-PH" sz="2800">
                <a:solidFill>
                  <a:schemeClr val="dk2"/>
                </a:solidFill>
              </a:rPr>
              <a:t>approximate nearest-neighbor (ANN) retrieval</a:t>
            </a:r>
            <a:endParaRPr sz="2800">
              <a:solidFill>
                <a:schemeClr val="dk2"/>
              </a:solidFill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</a:pPr>
            <a:r>
              <a:rPr lang="en-PH" sz="2800">
                <a:solidFill>
                  <a:schemeClr val="dk2"/>
                </a:solidFill>
              </a:rPr>
              <a:t>bounded-bucket partitioning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3200"/>
              <a:buNone/>
            </a:pPr>
            <a:r>
              <a:t/>
            </a:r>
            <a:endParaRPr sz="3100">
              <a:solidFill>
                <a:schemeClr val="dk2"/>
              </a:solidFill>
            </a:endParaRPr>
          </a:p>
        </p:txBody>
      </p:sp>
      <p:sp>
        <p:nvSpPr>
          <p:cNvPr id="141" name="Google Shape;141;h641e64ea653f54d4_0_76"/>
          <p:cNvSpPr txBox="1"/>
          <p:nvPr>
            <p:ph idx="1" type="body"/>
          </p:nvPr>
        </p:nvSpPr>
        <p:spPr>
          <a:xfrm>
            <a:off x="6063575" y="3253150"/>
            <a:ext cx="5106900" cy="4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800">
                <a:solidFill>
                  <a:schemeClr val="dk2"/>
                </a:solidFill>
              </a:rPr>
              <a:t>2. Run insertions on graphs from 50 to 2,000 nodes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800">
                <a:solidFill>
                  <a:schemeClr val="dk2"/>
                </a:solidFill>
              </a:rPr>
              <a:t>3. Measure time, LLM calls, and accuracy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800">
                <a:solidFill>
                  <a:schemeClr val="dk2"/>
                </a:solidFill>
              </a:rPr>
              <a:t>4. Test whether bucket-capped cost stays flat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800">
                <a:solidFill>
                  <a:schemeClr val="dk2"/>
                </a:solidFill>
              </a:rPr>
              <a:t>5. Release a reproducible codebase and dataset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3200"/>
              <a:buNone/>
            </a:pPr>
            <a:r>
              <a:t/>
            </a:r>
            <a:endParaRPr b="1" sz="2800"/>
          </a:p>
        </p:txBody>
      </p:sp>
      <p:sp>
        <p:nvSpPr>
          <p:cNvPr id="142" name="Google Shape;142;h641e64ea653f54d4_0_76"/>
          <p:cNvSpPr txBox="1"/>
          <p:nvPr>
            <p:ph type="title"/>
          </p:nvPr>
        </p:nvSpPr>
        <p:spPr>
          <a:xfrm>
            <a:off x="1704025" y="1301933"/>
            <a:ext cx="8130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2900"/>
              <a:t>OBJECTIVES OF THE STUDY</a:t>
            </a:r>
            <a:endParaRPr sz="6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h641e64ea653f54d4_0_90"/>
          <p:cNvGraphicFramePr/>
          <p:nvPr/>
        </p:nvGraphicFramePr>
        <p:xfrm>
          <a:off x="490700" y="227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{E07CC67D-CC92-4324-9B05-023ADF34413E}</a:tableStyleId>
              </a:tblPr>
              <a:tblGrid>
                <a:gridCol w="3156125"/>
                <a:gridCol w="7166950"/>
              </a:tblGrid>
              <a:tr h="111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the field of Computer Science </a:t>
                      </a:r>
                      <a:endParaRPr b="1" sz="800">
                        <a:solidFill>
                          <a:srgbClr val="0C4B0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Provides an </a:t>
                      </a:r>
                      <a:r>
                        <a:rPr b="1"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empirical benchmark</a:t>
                      </a:r>
                      <a:r>
                        <a:rPr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by comparing multiple insertion strategies under identical conditions across different graph sizes, </a:t>
                      </a:r>
                      <a:r>
                        <a:rPr b="1"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addressing gaps</a:t>
                      </a:r>
                      <a:r>
                        <a:rPr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 existing literature.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111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Future Researchers</a:t>
                      </a:r>
                      <a:endParaRPr b="1" sz="800">
                        <a:solidFill>
                          <a:srgbClr val="0C4B0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Empirically </a:t>
                      </a:r>
                      <a:r>
                        <a:rPr b="1"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validates theoretical cost claim</a:t>
                      </a:r>
                      <a:r>
                        <a:rPr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and provides a </a:t>
                      </a:r>
                      <a:r>
                        <a:rPr b="1"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foundation for evaluating</a:t>
                      </a:r>
                      <a:r>
                        <a:rPr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new strategies, domains, and performance limits.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1420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Practitioners Building Knowledge-Graph Systems </a:t>
                      </a:r>
                      <a:endParaRPr b="1"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Helps developers </a:t>
                      </a:r>
                      <a:r>
                        <a:rPr b="1"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choose the most appropriate narrowing strategy</a:t>
                      </a:r>
                      <a:r>
                        <a:rPr lang="en-PH" sz="2300">
                          <a:solidFill>
                            <a:schemeClr val="dk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for their expected graph size and update frequency.</a:t>
                      </a:r>
                      <a:endParaRPr sz="2300">
                        <a:solidFill>
                          <a:schemeClr val="dk2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9" name="Google Shape;149;h641e64ea653f54d4_0_90"/>
          <p:cNvSpPr txBox="1"/>
          <p:nvPr>
            <p:ph type="title"/>
          </p:nvPr>
        </p:nvSpPr>
        <p:spPr>
          <a:xfrm>
            <a:off x="1704025" y="1301933"/>
            <a:ext cx="8130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2900"/>
              <a:t>SIGNIFICANCE OF THE STUDY</a:t>
            </a:r>
            <a:endParaRPr sz="6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/>
          <p:nvPr>
            <p:ph idx="1" type="body"/>
          </p:nvPr>
        </p:nvSpPr>
        <p:spPr>
          <a:xfrm>
            <a:off x="436275" y="1941763"/>
            <a:ext cx="10455600" cy="4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00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b="1" lang="en-PH" sz="2700"/>
              <a:t>Focus: </a:t>
            </a:r>
            <a:r>
              <a:rPr lang="en-PH" sz="2700"/>
              <a:t>Only the incremental insertion phase, which is adding one new node to an already-existing graph. </a:t>
            </a:r>
            <a:r>
              <a:rPr b="1" lang="en-PH" sz="2700"/>
              <a:t>It does not propose a new batch-construction method.</a:t>
            </a:r>
            <a:endParaRPr b="1" sz="2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b="1" lang="en-PH" sz="2700"/>
              <a:t>Strategies covered: </a:t>
            </a:r>
            <a:r>
              <a:rPr lang="en-PH" sz="2700"/>
              <a:t>brute force, embedding threshold, ANN, bounded bucket</a:t>
            </a:r>
            <a:endParaRPr sz="27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-4000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b="1" lang="en-PH" sz="2700"/>
              <a:t>Data sources: </a:t>
            </a:r>
            <a:r>
              <a:rPr lang="en-PH" sz="2700"/>
              <a:t>Gold-standard data: Metacademy (141 concepts) and DSA (29 concepts) for accuracy and Synthetic data: up to ~2,000 nodes for cost scaling</a:t>
            </a:r>
            <a:endParaRPr sz="27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4000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b="1" lang="en-PH" sz="2700"/>
              <a:t>Measures:</a:t>
            </a:r>
            <a:r>
              <a:rPr lang="en-PH" sz="2700"/>
              <a:t> Wall-clock time per insertion, LLM calls per insertion, and placement accuracy (precision, recall, F1).</a:t>
            </a:r>
            <a:endParaRPr sz="2700"/>
          </a:p>
        </p:txBody>
      </p:sp>
      <p:sp>
        <p:nvSpPr>
          <p:cNvPr id="156" name="Google Shape;156;p7"/>
          <p:cNvSpPr txBox="1"/>
          <p:nvPr>
            <p:ph type="title"/>
          </p:nvPr>
        </p:nvSpPr>
        <p:spPr>
          <a:xfrm>
            <a:off x="1704025" y="1301933"/>
            <a:ext cx="8130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2900"/>
              <a:t>SCOPE OF THE STUDY</a:t>
            </a:r>
            <a:endParaRPr sz="6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>
            <p:ph idx="1" type="body"/>
          </p:nvPr>
        </p:nvSpPr>
        <p:spPr>
          <a:xfrm>
            <a:off x="436275" y="2067770"/>
            <a:ext cx="9867000" cy="42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Bare concept</a:t>
            </a:r>
            <a:r>
              <a:rPr lang="en-PH" sz="2900"/>
              <a:t> names only; one model, one fixed prompt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Synthetic concepts are </a:t>
            </a:r>
            <a:r>
              <a:rPr b="1" lang="en-PH" sz="2900"/>
              <a:t>unverified</a:t>
            </a:r>
            <a:r>
              <a:rPr lang="en-PH" sz="2900"/>
              <a:t> (cost only, no accuracy)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Fixed </a:t>
            </a:r>
            <a:r>
              <a:rPr lang="en-PH" sz="2900"/>
              <a:t>parameters; no thresholds stricter than 0.6 tested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Single insertions</a:t>
            </a:r>
            <a:r>
              <a:rPr lang="en-PH" sz="2900"/>
              <a:t> only; amortized cost not tested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One run per configuration, 10 trials per size; no hypothesis tests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Accuracy measured at </a:t>
            </a:r>
            <a:r>
              <a:rPr b="1" lang="en-PH" sz="2900"/>
              <a:t>only two graph sizes</a:t>
            </a:r>
            <a:endParaRPr b="1"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Ranking framework </a:t>
            </a:r>
            <a:r>
              <a:rPr b="1" lang="en-PH" sz="2900"/>
              <a:t>defined post hoc</a:t>
            </a:r>
            <a:endParaRPr b="1" sz="2900"/>
          </a:p>
        </p:txBody>
      </p:sp>
      <p:sp>
        <p:nvSpPr>
          <p:cNvPr id="163" name="Google Shape;163;p8"/>
          <p:cNvSpPr txBox="1"/>
          <p:nvPr>
            <p:ph type="title"/>
          </p:nvPr>
        </p:nvSpPr>
        <p:spPr>
          <a:xfrm>
            <a:off x="1704025" y="1301933"/>
            <a:ext cx="8130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2900"/>
              <a:t>LIMITATIONS </a:t>
            </a:r>
            <a:r>
              <a:rPr lang="en-PH" sz="2900"/>
              <a:t>OF THE STUDY</a:t>
            </a:r>
            <a:endParaRPr sz="6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type="title"/>
          </p:nvPr>
        </p:nvSpPr>
        <p:spPr>
          <a:xfrm>
            <a:off x="1630680" y="2696128"/>
            <a:ext cx="8930640" cy="8733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5400"/>
              <a:buFont typeface="Garamond"/>
              <a:buNone/>
            </a:pPr>
            <a:r>
              <a:rPr lang="en-PH" sz="5400"/>
              <a:t>Chapter II</a:t>
            </a:r>
            <a:endParaRPr/>
          </a:p>
        </p:txBody>
      </p:sp>
      <p:sp>
        <p:nvSpPr>
          <p:cNvPr id="169" name="Google Shape;169;p10"/>
          <p:cNvSpPr txBox="1"/>
          <p:nvPr>
            <p:ph idx="1" type="body"/>
          </p:nvPr>
        </p:nvSpPr>
        <p:spPr>
          <a:xfrm>
            <a:off x="2677862" y="3569500"/>
            <a:ext cx="6836276" cy="2696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3200"/>
              <a:buNone/>
            </a:pPr>
            <a:r>
              <a:rPr lang="en-PH"/>
              <a:t>REVIEW OF RELATED LITERATURE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Google Shape;175;h7b5e62cd08914865_0_91"/>
          <p:cNvGraphicFramePr/>
          <p:nvPr/>
        </p:nvGraphicFramePr>
        <p:xfrm>
          <a:off x="436275" y="15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{E07CC67D-CC92-4324-9B05-023ADF34413E}</a:tableStyleId>
              </a:tblPr>
              <a:tblGrid>
                <a:gridCol w="3104650"/>
                <a:gridCol w="2855150"/>
                <a:gridCol w="4327175"/>
              </a:tblGrid>
              <a:tr h="41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Related System / Concept	</a:t>
                      </a:r>
                      <a:endParaRPr b="1" sz="17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0C4B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Idea</a:t>
                      </a:r>
                      <a:endParaRPr b="1" sz="17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0C4B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 to the Study </a:t>
                      </a:r>
                      <a:endParaRPr b="1" sz="17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0C4B05"/>
                    </a:solidFill>
                  </a:tcPr>
                </a:tc>
              </a:tr>
              <a:tr h="88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Funk et al.’s ontology construction (KRIS-based) [1]; brute-force comparison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Comparing a new concept against every node needs too many LLM calls.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Serves as the control condition. Its 22 to 50 prompts per concept is the cost benchmark.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8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iText2KG, cosine-similarity threshold [2]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Keep only nodes whose similarity passes a cutoff.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Basis for Strategy B and the fixed θ = 0.6. Its threshold problem motivates a count-based alternative.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5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HNSW [10] and FAISS [11]; top-k retrieval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Retrieve a fixed number of the most similar nodes.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Basis for Strategy C. It selects candidates without a similarity cutoff.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5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EraRAG, size-bounded buckets, Theorem 4 [4]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 nodes into capped buckets so an insertion touches only one.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Basis for Strategy D. It is also the claim whose premise the study tests.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5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SAC-KG (Generator, Verifier, Pruner) [3]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Automated construction works at over one million nodes.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Makes a 2,000-node sweep realistic. Cost against graph size is still unreported.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h7b5e62cd08914865_0_176"/>
          <p:cNvGraphicFramePr/>
          <p:nvPr/>
        </p:nvGraphicFramePr>
        <p:xfrm>
          <a:off x="436275" y="15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{E07CC67D-CC92-4324-9B05-023ADF34413E}</a:tableStyleId>
              </a:tblPr>
              <a:tblGrid>
                <a:gridCol w="3104650"/>
                <a:gridCol w="2855150"/>
                <a:gridCol w="4327175"/>
              </a:tblGrid>
              <a:tr h="414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Related System / Concept	</a:t>
                      </a:r>
                      <a:endParaRPr b="1" sz="17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0C4B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Idea</a:t>
                      </a:r>
                      <a:endParaRPr b="1" sz="17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0C4B0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7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Relevance to the Study </a:t>
                      </a:r>
                      <a:endParaRPr b="1" sz="17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0C4B05"/>
                    </a:solidFill>
                  </a:tcPr>
                </a:tc>
              </a:tr>
              <a:tr h="88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ACE and the Metacademy and DSA gold graphs [6], [7]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Expert-verified graphs give a true answer to check against.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 the ground truth for measuring placement accuracy.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8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Pareto dominance, weighted-sum model, TOPSIS, minimum-level gates [13]–[21]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Judge strategies on cost and accuracy together, not one alone.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 how strategies are judged: gates, then dominance, then weighted ranking.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5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Amortized complexity analysis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is averaged over a sequence of operations.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Single-insertion tests cannot confirm an amortized bound, so the study tests the premise only.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5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EraRAG’s batch-size experiments [4] 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 tests varied incoming batch size, not graph size.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study varies graph size, which fills that gap.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65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EKG-Dataset [7]; Balilo [8]; Naguio and Roxas [9]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data exists, and local work on insertion does not.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7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datasets make the artifact reproducible. No local study covers incremental insertion, which supports novelty.</a:t>
                      </a:r>
                      <a:endParaRPr sz="17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>
            <p:ph type="title"/>
          </p:nvPr>
        </p:nvSpPr>
        <p:spPr>
          <a:xfrm>
            <a:off x="436275" y="1409702"/>
            <a:ext cx="81303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b="1" lang="en-PH" sz="4000">
                <a:latin typeface="Garamond"/>
                <a:ea typeface="Garamond"/>
                <a:cs typeface="Garamond"/>
                <a:sym typeface="Garamond"/>
              </a:rPr>
              <a:t>Conceptual Framework</a:t>
            </a:r>
            <a:endParaRPr/>
          </a:p>
        </p:txBody>
      </p:sp>
      <p:sp>
        <p:nvSpPr>
          <p:cNvPr id="188" name="Google Shape;188;p12"/>
          <p:cNvSpPr txBox="1"/>
          <p:nvPr/>
        </p:nvSpPr>
        <p:spPr>
          <a:xfrm>
            <a:off x="436275" y="2258300"/>
            <a:ext cx="3221100" cy="406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1"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alibri"/>
              <a:buChar char="●"/>
            </a:pPr>
            <a:r>
              <a:rPr lang="en-PH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Existing graph of size n (50 to 2,000 nodes)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alibri"/>
              <a:buChar char="●"/>
            </a:pPr>
            <a:r>
              <a:rPr lang="en-PH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new concept to insert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alibri"/>
              <a:buChar char="●"/>
            </a:pPr>
            <a:r>
              <a:rPr lang="en-PH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Narrowing strategy: A brute force, B embedding threshold, C ANN retrieval, D bounded bucket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3965700" y="2258300"/>
            <a:ext cx="3221100" cy="4069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C4B0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eriod"/>
            </a:pPr>
            <a:r>
              <a:rPr lang="en-PH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Narrowing strategy reduces the graph to a candidate shortlist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eriod"/>
            </a:pPr>
            <a:r>
              <a:rPr lang="en-PH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LLM decision step judges the relationship for each shortlisted candidate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AutoNum type="arabicPeriod"/>
            </a:pPr>
            <a:r>
              <a:rPr lang="en-PH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update and measurement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7495125" y="2258300"/>
            <a:ext cx="3221100" cy="406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1"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alibri"/>
              <a:buChar char="●"/>
            </a:pPr>
            <a:r>
              <a:rPr lang="en-PH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Updated graph of size n + 1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alibri"/>
              <a:buChar char="●"/>
            </a:pPr>
            <a:r>
              <a:rPr lang="en-PH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Cost: wall-clock time and LLM calls per insertion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alibri"/>
              <a:buChar char="●"/>
            </a:pPr>
            <a:r>
              <a:rPr lang="en-PH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Accuracy: precision, recall, F1 against the gold standard</a:t>
            </a:r>
            <a:endParaRPr sz="2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12"/>
          <p:cNvCxnSpPr>
            <a:stCxn id="188" idx="3"/>
            <a:endCxn id="189" idx="1"/>
          </p:cNvCxnSpPr>
          <p:nvPr/>
        </p:nvCxnSpPr>
        <p:spPr>
          <a:xfrm>
            <a:off x="3657375" y="4293200"/>
            <a:ext cx="30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2"/>
          <p:cNvCxnSpPr>
            <a:stCxn id="189" idx="3"/>
            <a:endCxn id="190" idx="1"/>
          </p:cNvCxnSpPr>
          <p:nvPr/>
        </p:nvCxnSpPr>
        <p:spPr>
          <a:xfrm>
            <a:off x="7186800" y="4293200"/>
            <a:ext cx="30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type="title"/>
          </p:nvPr>
        </p:nvSpPr>
        <p:spPr>
          <a:xfrm>
            <a:off x="1630680" y="2696128"/>
            <a:ext cx="8930640" cy="8733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5400"/>
              <a:buFont typeface="Garamond"/>
              <a:buNone/>
            </a:pPr>
            <a:r>
              <a:rPr lang="en-PH" sz="5400"/>
              <a:t>Chapter III</a:t>
            </a:r>
            <a:endParaRPr/>
          </a:p>
        </p:txBody>
      </p:sp>
      <p:sp>
        <p:nvSpPr>
          <p:cNvPr id="198" name="Google Shape;198;p14"/>
          <p:cNvSpPr txBox="1"/>
          <p:nvPr>
            <p:ph idx="1" type="body"/>
          </p:nvPr>
        </p:nvSpPr>
        <p:spPr>
          <a:xfrm>
            <a:off x="2677862" y="3569500"/>
            <a:ext cx="6836276" cy="2696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3200"/>
              <a:buNone/>
            </a:pPr>
            <a:r>
              <a:rPr lang="en-PH"/>
              <a:t>RESEARCH METHODOLOGY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13a01eb761e6d8e8_0_0"/>
          <p:cNvSpPr txBox="1"/>
          <p:nvPr>
            <p:ph type="title"/>
          </p:nvPr>
        </p:nvSpPr>
        <p:spPr>
          <a:xfrm>
            <a:off x="436275" y="1512474"/>
            <a:ext cx="81303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4000"/>
              <a:t>Research Design</a:t>
            </a:r>
            <a:endParaRPr b="1" sz="40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5" name="Google Shape;205;h13a01eb761e6d8e8_0_0"/>
          <p:cNvSpPr txBox="1"/>
          <p:nvPr>
            <p:ph idx="1" type="body"/>
          </p:nvPr>
        </p:nvSpPr>
        <p:spPr>
          <a:xfrm>
            <a:off x="436275" y="1983475"/>
            <a:ext cx="10761000" cy="4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27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Developmental, experimental design</a:t>
            </a:r>
            <a:endParaRPr sz="2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Works like an algorithm benchmark: no human respondents, no surveys</a:t>
            </a:r>
            <a:endParaRPr sz="29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4127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Independent variables: </a:t>
            </a:r>
            <a:r>
              <a:rPr lang="en-PH" sz="2900"/>
              <a:t>narrowing strategy and graph size</a:t>
            </a:r>
            <a:endParaRPr sz="29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4127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Dependent variables: </a:t>
            </a:r>
            <a:r>
              <a:rPr lang="en-PH" sz="2900"/>
              <a:t>insertion cost (time, LLM calls) and placement accuracy</a:t>
            </a:r>
            <a:endParaRPr sz="2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13a01eb761e6d8e8_0_6"/>
          <p:cNvSpPr txBox="1"/>
          <p:nvPr>
            <p:ph type="title"/>
          </p:nvPr>
        </p:nvSpPr>
        <p:spPr>
          <a:xfrm>
            <a:off x="420900" y="1556805"/>
            <a:ext cx="8130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4000"/>
              <a:t>Data Sources</a:t>
            </a:r>
            <a:endParaRPr sz="4000"/>
          </a:p>
        </p:txBody>
      </p:sp>
      <p:sp>
        <p:nvSpPr>
          <p:cNvPr id="212" name="Google Shape;212;h13a01eb761e6d8e8_0_6"/>
          <p:cNvSpPr txBox="1"/>
          <p:nvPr>
            <p:ph idx="1" type="body"/>
          </p:nvPr>
        </p:nvSpPr>
        <p:spPr>
          <a:xfrm>
            <a:off x="6097425" y="2292925"/>
            <a:ext cx="5084400" cy="43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/>
              <a:t>Synthetic data (cost only)</a:t>
            </a:r>
            <a:endParaRPr b="1" sz="18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Pool of 2,254 unique computer science concept names, generated with an LLM</a:t>
            </a:r>
            <a:endParaRPr sz="29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Used for graph sizes from 50 to 2,000 nodes</a:t>
            </a:r>
            <a:endParaRPr sz="29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Not verified, so it is never used for accuracy claims</a:t>
            </a:r>
            <a:endParaRPr sz="2900"/>
          </a:p>
        </p:txBody>
      </p:sp>
      <p:sp>
        <p:nvSpPr>
          <p:cNvPr id="213" name="Google Shape;213;h13a01eb761e6d8e8_0_6"/>
          <p:cNvSpPr txBox="1"/>
          <p:nvPr>
            <p:ph idx="1" type="body"/>
          </p:nvPr>
        </p:nvSpPr>
        <p:spPr>
          <a:xfrm>
            <a:off x="420900" y="2292925"/>
            <a:ext cx="5466300" cy="43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PH" sz="3000"/>
              <a:t>Gold-standard data (accuracy)</a:t>
            </a:r>
            <a:endParaRPr b="1" sz="30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Metacademy: 141 concepts</a:t>
            </a:r>
            <a:endParaRPr sz="29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DSA: 29 concepts</a:t>
            </a:r>
            <a:endParaRPr sz="29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Expert-verified prerequisite relationships</a:t>
            </a:r>
            <a:endParaRPr sz="2900"/>
          </a:p>
          <a:p>
            <a:pPr indent="-41275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Withhold one concept, re-insert it, compare against the true answers</a:t>
            </a:r>
            <a:endParaRPr sz="2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13a01eb761e6d8e8_0_22"/>
          <p:cNvSpPr txBox="1"/>
          <p:nvPr>
            <p:ph idx="1" type="body"/>
          </p:nvPr>
        </p:nvSpPr>
        <p:spPr>
          <a:xfrm>
            <a:off x="436275" y="1983475"/>
            <a:ext cx="10761000" cy="4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27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Input: one new concept and an existing graph</a:t>
            </a:r>
            <a:endParaRPr sz="2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-4127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Narrowing step (differs per strategy): </a:t>
            </a:r>
            <a:r>
              <a:rPr lang="en-PH" sz="2900"/>
              <a:t>produces a shortlist of candidates</a:t>
            </a:r>
            <a:endParaRPr sz="2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-4127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Decision step (identical for all): </a:t>
            </a:r>
            <a:r>
              <a:rPr lang="en-PH" sz="2900"/>
              <a:t>an LLM judges the new concept against each shortlisted candidate</a:t>
            </a:r>
            <a:endParaRPr sz="2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-4127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Only the narrowing step changes, so any difference in results comes from the narrowing method</a:t>
            </a:r>
            <a:endParaRPr sz="2900"/>
          </a:p>
        </p:txBody>
      </p:sp>
      <p:sp>
        <p:nvSpPr>
          <p:cNvPr id="220" name="Google Shape;220;h13a01eb761e6d8e8_0_22"/>
          <p:cNvSpPr txBox="1"/>
          <p:nvPr>
            <p:ph type="title"/>
          </p:nvPr>
        </p:nvSpPr>
        <p:spPr>
          <a:xfrm>
            <a:off x="436275" y="1512474"/>
            <a:ext cx="81303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4000"/>
              <a:t>Experimental Design</a:t>
            </a:r>
            <a:endParaRPr b="1" sz="4000"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13a01eb761e6d8e8_0_14"/>
          <p:cNvSpPr txBox="1"/>
          <p:nvPr>
            <p:ph type="title"/>
          </p:nvPr>
        </p:nvSpPr>
        <p:spPr>
          <a:xfrm>
            <a:off x="436275" y="1512474"/>
            <a:ext cx="81303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4000"/>
              <a:t>Research Design</a:t>
            </a:r>
            <a:endParaRPr b="1" sz="4000"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27" name="Google Shape;227;h13a01eb761e6d8e8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625" y="123113"/>
            <a:ext cx="9731778" cy="661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13a01eb761e6d8e8_0_28"/>
          <p:cNvSpPr txBox="1"/>
          <p:nvPr>
            <p:ph type="title"/>
          </p:nvPr>
        </p:nvSpPr>
        <p:spPr>
          <a:xfrm>
            <a:off x="436275" y="1512474"/>
            <a:ext cx="81303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4000"/>
              <a:t>The Four Strategies</a:t>
            </a:r>
            <a:endParaRPr b="1" sz="4000">
              <a:latin typeface="Garamond"/>
              <a:ea typeface="Garamond"/>
              <a:cs typeface="Garamond"/>
              <a:sym typeface="Garamond"/>
            </a:endParaRPr>
          </a:p>
        </p:txBody>
      </p:sp>
      <p:graphicFrame>
        <p:nvGraphicFramePr>
          <p:cNvPr id="234" name="Google Shape;234;h13a01eb761e6d8e8_0_28"/>
          <p:cNvGraphicFramePr/>
          <p:nvPr/>
        </p:nvGraphicFramePr>
        <p:xfrm>
          <a:off x="436275" y="21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{E07CC67D-CC92-4324-9B05-023ADF34413E}</a:tableStyleId>
              </a:tblPr>
              <a:tblGrid>
                <a:gridCol w="3601075"/>
                <a:gridCol w="3601075"/>
                <a:gridCol w="3601075"/>
              </a:tblGrid>
              <a:tr h="54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</a:t>
                      </a:r>
                      <a:endParaRPr b="1"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it builds the shortlist</a:t>
                      </a:r>
                      <a:endParaRPr b="1"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LLM calls per insertion</a:t>
                      </a:r>
                      <a:endParaRPr b="1"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54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 Brute force</a:t>
                      </a:r>
                      <a:endParaRPr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existing node (control)</a:t>
                      </a:r>
                      <a:endParaRPr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9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S2 Embedding threshold</a:t>
                      </a:r>
                      <a:endParaRPr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Nodes with cosine similarity above 0.6</a:t>
                      </a:r>
                      <a:endParaRPr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 to n</a:t>
                      </a:r>
                      <a:endParaRPr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899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S3 ANN retrieval</a:t>
                      </a:r>
                      <a:endParaRPr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10 most similar nodes (FAISS HNSW index)</a:t>
                      </a:r>
                      <a:endParaRPr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124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S4 Bounded bucket</a:t>
                      </a:r>
                      <a:endParaRPr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the members of the new concept's bucket (5 to 10 nodes)</a:t>
                      </a:r>
                      <a:endParaRPr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2300">
                          <a:solidFill>
                            <a:srgbClr val="0C4B0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2300">
                        <a:solidFill>
                          <a:srgbClr val="0C4B0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13a01eb761e6d8e8_0_37"/>
          <p:cNvSpPr txBox="1"/>
          <p:nvPr>
            <p:ph type="title"/>
          </p:nvPr>
        </p:nvSpPr>
        <p:spPr>
          <a:xfrm>
            <a:off x="436275" y="1512474"/>
            <a:ext cx="81303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4000"/>
              <a:t>The Shared Decision Step</a:t>
            </a:r>
            <a:endParaRPr b="1" sz="40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1" name="Google Shape;241;h13a01eb761e6d8e8_0_37"/>
          <p:cNvSpPr txBox="1"/>
          <p:nvPr>
            <p:ph idx="1" type="body"/>
          </p:nvPr>
        </p:nvSpPr>
        <p:spPr>
          <a:xfrm>
            <a:off x="436275" y="1983475"/>
            <a:ext cx="10761000" cy="4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One LLM call per shortlisted candidate, run one at a time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Model: DeepSeek V3, temperature 0, one fixed prompt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Input: concept names only, plus a subject-area label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Output: X is a prerequisite of Y, Y is a prerequisite of X, or none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Pilot (brute force on DSA):</a:t>
            </a:r>
            <a:r>
              <a:rPr lang="en-PH" sz="2900"/>
              <a:t> micro F1 0.541, recall 0.611, a conditional pass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Prompt was kept unchanged and not tuned further</a:t>
            </a:r>
            <a:endParaRPr sz="2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13a01eb761e6d8e8_0_43"/>
          <p:cNvSpPr txBox="1"/>
          <p:nvPr>
            <p:ph type="title"/>
          </p:nvPr>
        </p:nvSpPr>
        <p:spPr>
          <a:xfrm>
            <a:off x="436275" y="1512474"/>
            <a:ext cx="81303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4000"/>
              <a:t>Experimental Procedure</a:t>
            </a:r>
            <a:endParaRPr b="1" sz="40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8" name="Google Shape;248;h13a01eb761e6d8e8_0_43"/>
          <p:cNvSpPr txBox="1"/>
          <p:nvPr>
            <p:ph idx="1" type="body"/>
          </p:nvPr>
        </p:nvSpPr>
        <p:spPr>
          <a:xfrm>
            <a:off x="436275" y="1983475"/>
            <a:ext cx="10761000" cy="4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Graph sizes: 50, 100, 200, 500, 1,000, 2,000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One single insertion per trial, 10 trials per size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Accuracy runs: 59 trials (29 DSA and 30 Metacademy)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Parameters were fixed before running and not tuned on the data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8 one-at-a-time sensitivity settings:</a:t>
            </a:r>
            <a:endParaRPr sz="2900"/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2900"/>
              <a:buChar char="○"/>
            </a:pPr>
            <a:r>
              <a:rPr lang="en-PH" sz="2900">
                <a:solidFill>
                  <a:srgbClr val="0C4B05"/>
                </a:solidFill>
              </a:rPr>
              <a:t>S2: threshold 0.4 and 0.5</a:t>
            </a:r>
            <a:endParaRPr sz="2900">
              <a:solidFill>
                <a:srgbClr val="0C4B05"/>
              </a:solidFill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2900"/>
              <a:buChar char="○"/>
            </a:pPr>
            <a:r>
              <a:rPr lang="en-PH" sz="2900">
                <a:solidFill>
                  <a:srgbClr val="0C4B05"/>
                </a:solidFill>
              </a:rPr>
              <a:t>S3: k = 5 and 20, efSearch = 64 and 256</a:t>
            </a:r>
            <a:endParaRPr sz="2900">
              <a:solidFill>
                <a:srgbClr val="0C4B05"/>
              </a:solidFill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2900"/>
              <a:buChar char="○"/>
            </a:pPr>
            <a:r>
              <a:rPr lang="en-PH" sz="2900">
                <a:solidFill>
                  <a:srgbClr val="0C4B05"/>
                </a:solidFill>
              </a:rPr>
              <a:t>S4: bucket bounds (2, 5) and (10, 20)</a:t>
            </a:r>
            <a:endParaRPr sz="2900">
              <a:solidFill>
                <a:srgbClr val="0C4B05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12 configurations in total, one run each</a:t>
            </a:r>
            <a:endParaRPr sz="2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13a01eb761e6d8e8_0_49"/>
          <p:cNvSpPr txBox="1"/>
          <p:nvPr>
            <p:ph type="title"/>
          </p:nvPr>
        </p:nvSpPr>
        <p:spPr>
          <a:xfrm>
            <a:off x="436275" y="1512474"/>
            <a:ext cx="81303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4000"/>
              <a:t>Measures and Analysis</a:t>
            </a:r>
            <a:endParaRPr b="1" sz="40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5" name="Google Shape;255;h13a01eb761e6d8e8_0_49"/>
          <p:cNvSpPr txBox="1"/>
          <p:nvPr>
            <p:ph idx="1" type="body"/>
          </p:nvPr>
        </p:nvSpPr>
        <p:spPr>
          <a:xfrm>
            <a:off x="436275" y="1983475"/>
            <a:ext cx="10761000" cy="4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Cost: </a:t>
            </a:r>
            <a:r>
              <a:rPr lang="en-PH" sz="2900"/>
              <a:t>wall-clock time per insertion and LLM calls per insertion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Accuracy: </a:t>
            </a:r>
            <a:r>
              <a:rPr lang="en-PH" sz="2900"/>
              <a:t>precision, recall, F1 (micro-averaged)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Shortlist recall: </a:t>
            </a:r>
            <a:r>
              <a:rPr lang="en-PH" sz="2900"/>
              <a:t>the share of true neighbors that narrowing keeps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Scaling: </a:t>
            </a:r>
            <a:r>
              <a:rPr lang="en-PH" sz="2900"/>
              <a:t>slope of log(cost) against log(n)</a:t>
            </a:r>
            <a:endParaRPr sz="2900"/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2900"/>
              <a:buChar char="○"/>
            </a:pPr>
            <a:r>
              <a:rPr lang="en-PH" sz="2900">
                <a:solidFill>
                  <a:srgbClr val="0C4B05"/>
                </a:solidFill>
              </a:rPr>
              <a:t>below 0.1: approximately flat</a:t>
            </a:r>
            <a:endParaRPr sz="2900">
              <a:solidFill>
                <a:srgbClr val="0C4B05"/>
              </a:solidFill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2900"/>
              <a:buChar char="○"/>
            </a:pPr>
            <a:r>
              <a:rPr lang="en-PH" sz="2900">
                <a:solidFill>
                  <a:srgbClr val="0C4B05"/>
                </a:solidFill>
              </a:rPr>
              <a:t>0.1 to 0.9: sub-linear</a:t>
            </a:r>
            <a:endParaRPr sz="2900">
              <a:solidFill>
                <a:srgbClr val="0C4B05"/>
              </a:solidFill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2900"/>
              <a:buChar char="○"/>
            </a:pPr>
            <a:r>
              <a:rPr lang="en-PH" sz="2900">
                <a:solidFill>
                  <a:srgbClr val="0C4B05"/>
                </a:solidFill>
              </a:rPr>
              <a:t>above 0.9: approximately linear</a:t>
            </a:r>
            <a:endParaRPr sz="2900">
              <a:solidFill>
                <a:srgbClr val="0C4B05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Results are described with 95% bootstrap intervals; no hypothesis tests</a:t>
            </a:r>
            <a:endParaRPr sz="2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13a01eb761e6d8e8_0_55"/>
          <p:cNvSpPr txBox="1"/>
          <p:nvPr>
            <p:ph type="title"/>
          </p:nvPr>
        </p:nvSpPr>
        <p:spPr>
          <a:xfrm>
            <a:off x="436275" y="1512475"/>
            <a:ext cx="101181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4000"/>
              <a:buFont typeface="Garamond"/>
              <a:buNone/>
            </a:pPr>
            <a:r>
              <a:rPr lang="en-PH" sz="4000"/>
              <a:t>Decision and Ranking Framework (Post Hoc)</a:t>
            </a:r>
            <a:endParaRPr b="1" sz="40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62" name="Google Shape;262;h13a01eb761e6d8e8_0_55"/>
          <p:cNvSpPr txBox="1"/>
          <p:nvPr>
            <p:ph idx="1" type="body"/>
          </p:nvPr>
        </p:nvSpPr>
        <p:spPr>
          <a:xfrm>
            <a:off x="436275" y="1983475"/>
            <a:ext cx="10761000" cy="45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PH" sz="2900"/>
              <a:t>Defined after the Chapter 4 measurements were available, and labelled as such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Three gates:</a:t>
            </a:r>
            <a:endParaRPr b="1" sz="2900"/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2900"/>
              <a:buChar char="○"/>
            </a:pPr>
            <a:r>
              <a:rPr lang="en-PH" sz="2900">
                <a:solidFill>
                  <a:srgbClr val="0C4B05"/>
                </a:solidFill>
              </a:rPr>
              <a:t>G1: shortlist recall beats a random shortlist</a:t>
            </a:r>
            <a:endParaRPr sz="2900">
              <a:solidFill>
                <a:srgbClr val="0C4B05"/>
              </a:solidFill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2900"/>
              <a:buChar char="○"/>
            </a:pPr>
            <a:r>
              <a:rPr lang="en-PH" sz="2900">
                <a:solidFill>
                  <a:srgbClr val="0C4B05"/>
                </a:solidFill>
              </a:rPr>
              <a:t>G2: at most 50 LLM calls per insertion at n = 2,000</a:t>
            </a:r>
            <a:endParaRPr sz="2900">
              <a:solidFill>
                <a:srgbClr val="0C4B05"/>
              </a:solidFill>
            </a:endParaRPr>
          </a:p>
          <a:p>
            <a:pPr indent="-412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2900"/>
              <a:buChar char="○"/>
            </a:pPr>
            <a:r>
              <a:rPr lang="en-PH" sz="2900">
                <a:solidFill>
                  <a:srgbClr val="0C4B05"/>
                </a:solidFill>
              </a:rPr>
              <a:t>G3: not beaten on both calls and F1 by another strategy</a:t>
            </a:r>
            <a:endParaRPr sz="2900">
              <a:solidFill>
                <a:srgbClr val="0C4B05"/>
              </a:solidFill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Classes: </a:t>
            </a:r>
            <a:r>
              <a:rPr lang="en-PH" sz="2900"/>
              <a:t>Effective, Conditionally effective, Not effective</a:t>
            </a:r>
            <a:endParaRPr sz="2900"/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b="1" lang="en-PH" sz="2900"/>
              <a:t>Ranking: </a:t>
            </a:r>
            <a:r>
              <a:rPr lang="en-PH" sz="2900"/>
              <a:t>weighted score of F1 and log(calls) under three weight scenarios, plus a 20,000-draw weight sweep and a TOPSIS cross-check</a:t>
            </a:r>
            <a:endParaRPr sz="2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6"/>
          <p:cNvSpPr txBox="1"/>
          <p:nvPr>
            <p:ph type="title"/>
          </p:nvPr>
        </p:nvSpPr>
        <p:spPr>
          <a:xfrm>
            <a:off x="1630680" y="2696128"/>
            <a:ext cx="8930640" cy="8733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5400"/>
              <a:buFont typeface="Garamond"/>
              <a:buNone/>
            </a:pPr>
            <a:r>
              <a:rPr lang="en-PH" sz="5400"/>
              <a:t>Chapter IV</a:t>
            </a:r>
            <a:endParaRPr/>
          </a:p>
        </p:txBody>
      </p:sp>
      <p:sp>
        <p:nvSpPr>
          <p:cNvPr id="268" name="Google Shape;268;p16"/>
          <p:cNvSpPr txBox="1"/>
          <p:nvPr>
            <p:ph idx="1" type="body"/>
          </p:nvPr>
        </p:nvSpPr>
        <p:spPr>
          <a:xfrm>
            <a:off x="2228550" y="3569500"/>
            <a:ext cx="7831800" cy="26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3200"/>
              <a:buNone/>
            </a:pPr>
            <a:r>
              <a:rPr lang="en-PH"/>
              <a:t>RESULTS AND DISCUSSIONS (INITIAL RESULT)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13a01eb761e6d8e8_0_61"/>
          <p:cNvSpPr/>
          <p:nvPr/>
        </p:nvSpPr>
        <p:spPr>
          <a:xfrm>
            <a:off x="386375" y="1568750"/>
            <a:ext cx="106077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i="0" lang="en-PH" sz="1300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DATA COLLECTED</a:t>
            </a:r>
            <a:endParaRPr i="0" sz="13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h13a01eb761e6d8e8_0_61"/>
          <p:cNvSpPr txBox="1"/>
          <p:nvPr/>
        </p:nvSpPr>
        <p:spPr>
          <a:xfrm>
            <a:off x="386375" y="2006642"/>
            <a:ext cx="106077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24 runs, 12 configurations, 3 data sources</a:t>
            </a:r>
            <a:endParaRPr sz="3000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h13a01eb761e6d8e8_0_61"/>
          <p:cNvSpPr/>
          <p:nvPr/>
        </p:nvSpPr>
        <p:spPr>
          <a:xfrm>
            <a:off x="389470" y="2649201"/>
            <a:ext cx="2457000" cy="1513800"/>
          </a:xfrm>
          <a:prstGeom prst="roundRect">
            <a:avLst>
              <a:gd fmla="val 6963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h13a01eb761e6d8e8_0_61"/>
          <p:cNvSpPr/>
          <p:nvPr/>
        </p:nvSpPr>
        <p:spPr>
          <a:xfrm>
            <a:off x="564623" y="2841629"/>
            <a:ext cx="21699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600"/>
              <a:buFont typeface="Source Serif 4"/>
              <a:buNone/>
            </a:pPr>
            <a:r>
              <a:rPr b="1" i="0" lang="en-PH" sz="3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i="0" sz="36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h13a01eb761e6d8e8_0_61"/>
          <p:cNvSpPr/>
          <p:nvPr/>
        </p:nvSpPr>
        <p:spPr>
          <a:xfrm>
            <a:off x="564623" y="3437271"/>
            <a:ext cx="21699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i="0" lang="en-PH" sz="1400" u="none" cap="none" strike="noStrike">
                <a:solidFill>
                  <a:srgbClr val="3B4556"/>
                </a:solidFill>
                <a:latin typeface="Calibri"/>
                <a:ea typeface="Calibri"/>
                <a:cs typeface="Calibri"/>
                <a:sym typeface="Calibri"/>
              </a:rPr>
              <a:t>runs: 12 accuracy-mode and 12 size-sweep</a:t>
            </a:r>
            <a:endParaRPr i="0" sz="14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h13a01eb761e6d8e8_0_61"/>
          <p:cNvSpPr/>
          <p:nvPr/>
        </p:nvSpPr>
        <p:spPr>
          <a:xfrm>
            <a:off x="3001299" y="2649201"/>
            <a:ext cx="2457000" cy="1513800"/>
          </a:xfrm>
          <a:prstGeom prst="roundRect">
            <a:avLst>
              <a:gd fmla="val 6963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h13a01eb761e6d8e8_0_61"/>
          <p:cNvSpPr/>
          <p:nvPr/>
        </p:nvSpPr>
        <p:spPr>
          <a:xfrm>
            <a:off x="3176453" y="2841629"/>
            <a:ext cx="21699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600"/>
              <a:buFont typeface="Source Serif 4"/>
              <a:buNone/>
            </a:pPr>
            <a:r>
              <a:rPr b="1" i="0" lang="en-PH" sz="3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i="0" sz="36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h13a01eb761e6d8e8_0_61"/>
          <p:cNvSpPr/>
          <p:nvPr/>
        </p:nvSpPr>
        <p:spPr>
          <a:xfrm>
            <a:off x="3176453" y="3437271"/>
            <a:ext cx="21699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i="0" lang="en-PH" sz="1400" u="none" cap="none" strike="noStrike">
                <a:solidFill>
                  <a:srgbClr val="3B4556"/>
                </a:solidFill>
                <a:latin typeface="Calibri"/>
                <a:ea typeface="Calibri"/>
                <a:cs typeface="Calibri"/>
                <a:sym typeface="Calibri"/>
              </a:rPr>
              <a:t>configurations: 4 primary and 8 sensitivity</a:t>
            </a:r>
            <a:endParaRPr i="0" sz="14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h13a01eb761e6d8e8_0_61"/>
          <p:cNvSpPr/>
          <p:nvPr/>
        </p:nvSpPr>
        <p:spPr>
          <a:xfrm>
            <a:off x="5613129" y="2649201"/>
            <a:ext cx="2457000" cy="1513800"/>
          </a:xfrm>
          <a:prstGeom prst="roundRect">
            <a:avLst>
              <a:gd fmla="val 6963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h13a01eb761e6d8e8_0_61"/>
          <p:cNvSpPr/>
          <p:nvPr/>
        </p:nvSpPr>
        <p:spPr>
          <a:xfrm>
            <a:off x="5788283" y="2841629"/>
            <a:ext cx="21699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600"/>
              <a:buFont typeface="Source Serif 4"/>
              <a:buNone/>
            </a:pPr>
            <a:r>
              <a:rPr b="1" i="0" lang="en-PH" sz="3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59 / 60</a:t>
            </a:r>
            <a:endParaRPr i="0" sz="36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h13a01eb761e6d8e8_0_61"/>
          <p:cNvSpPr/>
          <p:nvPr/>
        </p:nvSpPr>
        <p:spPr>
          <a:xfrm>
            <a:off x="5788283" y="3437271"/>
            <a:ext cx="21699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i="0" lang="en-PH" sz="1400" u="none" cap="none" strike="noStrike">
                <a:solidFill>
                  <a:srgbClr val="3B4556"/>
                </a:solidFill>
                <a:latin typeface="Calibri"/>
                <a:ea typeface="Calibri"/>
                <a:cs typeface="Calibri"/>
                <a:sym typeface="Calibri"/>
              </a:rPr>
              <a:t>trials per accuracy / sweep run</a:t>
            </a:r>
            <a:endParaRPr i="0" sz="14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h13a01eb761e6d8e8_0_61"/>
          <p:cNvSpPr/>
          <p:nvPr/>
        </p:nvSpPr>
        <p:spPr>
          <a:xfrm>
            <a:off x="8224959" y="2649201"/>
            <a:ext cx="2457000" cy="1513800"/>
          </a:xfrm>
          <a:prstGeom prst="roundRect">
            <a:avLst>
              <a:gd fmla="val 6963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h13a01eb761e6d8e8_0_61"/>
          <p:cNvSpPr/>
          <p:nvPr/>
        </p:nvSpPr>
        <p:spPr>
          <a:xfrm>
            <a:off x="8400112" y="2841629"/>
            <a:ext cx="21699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600"/>
              <a:buFont typeface="Source Serif 4"/>
              <a:buNone/>
            </a:pPr>
            <a:r>
              <a:rPr b="1" i="0" lang="en-PH" sz="3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24 / 24</a:t>
            </a:r>
            <a:endParaRPr i="0" sz="36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h13a01eb761e6d8e8_0_61"/>
          <p:cNvSpPr/>
          <p:nvPr/>
        </p:nvSpPr>
        <p:spPr>
          <a:xfrm>
            <a:off x="8400112" y="3437271"/>
            <a:ext cx="21699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i="0" lang="en-PH" sz="1400" u="none" cap="none" strike="noStrike">
                <a:solidFill>
                  <a:srgbClr val="3B4556"/>
                </a:solidFill>
                <a:latin typeface="Calibri"/>
                <a:ea typeface="Calibri"/>
                <a:cs typeface="Calibri"/>
                <a:sym typeface="Calibri"/>
              </a:rPr>
              <a:t>runs passed the validation gate</a:t>
            </a:r>
            <a:endParaRPr i="0" sz="14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h13a01eb761e6d8e8_0_61"/>
          <p:cNvSpPr/>
          <p:nvPr/>
        </p:nvSpPr>
        <p:spPr>
          <a:xfrm>
            <a:off x="386375" y="4356572"/>
            <a:ext cx="3333900" cy="1466100"/>
          </a:xfrm>
          <a:prstGeom prst="roundRect">
            <a:avLst>
              <a:gd fmla="val 7421" name="adj"/>
            </a:avLst>
          </a:prstGeom>
          <a:solidFill>
            <a:srgbClr val="E4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h13a01eb761e6d8e8_0_61"/>
          <p:cNvSpPr/>
          <p:nvPr/>
        </p:nvSpPr>
        <p:spPr>
          <a:xfrm>
            <a:off x="559672" y="4546960"/>
            <a:ext cx="30768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DSA gold graph</a:t>
            </a:r>
            <a:endParaRPr i="0" sz="16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h13a01eb761e6d8e8_0_61"/>
          <p:cNvSpPr/>
          <p:nvPr/>
        </p:nvSpPr>
        <p:spPr>
          <a:xfrm>
            <a:off x="559672" y="4889658"/>
            <a:ext cx="30768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300"/>
              <a:buFont typeface="IBM Plex Sans"/>
              <a:buNone/>
            </a:pPr>
            <a:r>
              <a:rPr i="0" lang="en-PH" sz="1300" u="none" cap="none" strike="noStrike">
                <a:solidFill>
                  <a:srgbClr val="3B4556"/>
                </a:solidFill>
                <a:latin typeface="Calibri"/>
                <a:ea typeface="Calibri"/>
                <a:cs typeface="Calibri"/>
                <a:sym typeface="Calibri"/>
              </a:rPr>
              <a:t>29 expert-verified concepts. Used for accuracy (29 leave-one-out trials).</a:t>
            </a:r>
            <a:endParaRPr i="0" sz="13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h13a01eb761e6d8e8_0_61"/>
          <p:cNvSpPr/>
          <p:nvPr/>
        </p:nvSpPr>
        <p:spPr>
          <a:xfrm>
            <a:off x="3868789" y="4356572"/>
            <a:ext cx="3333900" cy="1466100"/>
          </a:xfrm>
          <a:prstGeom prst="roundRect">
            <a:avLst>
              <a:gd fmla="val 7421" name="adj"/>
            </a:avLst>
          </a:prstGeom>
          <a:solidFill>
            <a:srgbClr val="E4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h13a01eb761e6d8e8_0_61"/>
          <p:cNvSpPr/>
          <p:nvPr/>
        </p:nvSpPr>
        <p:spPr>
          <a:xfrm>
            <a:off x="4042086" y="4546960"/>
            <a:ext cx="30768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Metacademy gold graph</a:t>
            </a:r>
            <a:endParaRPr i="0" sz="16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h13a01eb761e6d8e8_0_61"/>
          <p:cNvSpPr/>
          <p:nvPr/>
        </p:nvSpPr>
        <p:spPr>
          <a:xfrm>
            <a:off x="4042086" y="4889658"/>
            <a:ext cx="30768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300"/>
              <a:buFont typeface="IBM Plex Sans"/>
              <a:buNone/>
            </a:pPr>
            <a:r>
              <a:rPr i="0" lang="en-PH" sz="1300" u="none" cap="none" strike="noStrike">
                <a:solidFill>
                  <a:srgbClr val="3B4556"/>
                </a:solidFill>
                <a:latin typeface="Calibri"/>
                <a:ea typeface="Calibri"/>
                <a:cs typeface="Calibri"/>
                <a:sym typeface="Calibri"/>
              </a:rPr>
              <a:t>141 expert-verified concepts. Used for accuracy (30 trials).</a:t>
            </a:r>
            <a:endParaRPr i="0" sz="13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h13a01eb761e6d8e8_0_61"/>
          <p:cNvSpPr/>
          <p:nvPr/>
        </p:nvSpPr>
        <p:spPr>
          <a:xfrm>
            <a:off x="7351280" y="4356572"/>
            <a:ext cx="3333900" cy="1466100"/>
          </a:xfrm>
          <a:prstGeom prst="roundRect">
            <a:avLst>
              <a:gd fmla="val 7421" name="adj"/>
            </a:avLst>
          </a:prstGeom>
          <a:solidFill>
            <a:srgbClr val="E4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h13a01eb761e6d8e8_0_61"/>
          <p:cNvSpPr/>
          <p:nvPr/>
        </p:nvSpPr>
        <p:spPr>
          <a:xfrm>
            <a:off x="7524577" y="4546960"/>
            <a:ext cx="30768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Synthetic concept pool</a:t>
            </a:r>
            <a:endParaRPr i="0" sz="16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h13a01eb761e6d8e8_0_61"/>
          <p:cNvSpPr/>
          <p:nvPr/>
        </p:nvSpPr>
        <p:spPr>
          <a:xfrm>
            <a:off x="7524577" y="4889658"/>
            <a:ext cx="30768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300"/>
              <a:buFont typeface="IBM Plex Sans"/>
              <a:buNone/>
            </a:pPr>
            <a:r>
              <a:rPr i="0" lang="en-PH" sz="1300" u="none" cap="none" strike="noStrike">
                <a:solidFill>
                  <a:srgbClr val="3B4556"/>
                </a:solidFill>
                <a:latin typeface="Calibri"/>
                <a:ea typeface="Calibri"/>
                <a:cs typeface="Calibri"/>
                <a:sym typeface="Calibri"/>
              </a:rPr>
              <a:t>2,254 unique names, no ground truth. Used for cost at n = 50 to 2,000 (10 trials per size).</a:t>
            </a:r>
            <a:endParaRPr i="0" sz="13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/>
          <p:nvPr/>
        </p:nvSpPr>
        <p:spPr>
          <a:xfrm>
            <a:off x="231300" y="1562675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i="0" lang="en-PH" u="none" cap="none" strike="noStrike">
                <a:solidFill>
                  <a:srgbClr val="1F6F8B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i="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231300" y="1971616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100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The four strategies compared</a:t>
            </a:r>
            <a:endParaRPr sz="3100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4" name="Google Shape;304;p17"/>
          <p:cNvGraphicFramePr/>
          <p:nvPr/>
        </p:nvGraphicFramePr>
        <p:xfrm>
          <a:off x="241460" y="2578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{10421629-3B28-4E87-9D99-BD921BF515C7}</a:tableStyleId>
              </a:tblPr>
              <a:tblGrid>
                <a:gridCol w="2744625"/>
                <a:gridCol w="4855875"/>
                <a:gridCol w="2955750"/>
              </a:tblGrid>
              <a:tr h="41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500"/>
                        <a:buFont typeface="IBM Plex Sans"/>
                        <a:buNone/>
                      </a:pPr>
                      <a:r>
                        <a:rPr b="1" lang="en-PH" sz="1600" u="none" cap="none" strike="noStrike">
                          <a:solidFill>
                            <a:srgbClr val="F7F5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500"/>
                        <a:buFont typeface="IBM Plex Sans"/>
                        <a:buNone/>
                      </a:pPr>
                      <a:r>
                        <a:rPr b="1" lang="en-PH" sz="1600" u="none" cap="none" strike="noStrike">
                          <a:solidFill>
                            <a:srgbClr val="F7F5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Shortlist rule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500"/>
                        <a:buFont typeface="IBM Plex Sans"/>
                        <a:buNone/>
                      </a:pPr>
                      <a:r>
                        <a:rPr b="1" lang="en-PH" sz="1600" u="none" cap="none" strike="noStrike">
                          <a:solidFill>
                            <a:srgbClr val="F7F5E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Max calls per insertion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</a:tr>
              <a:tr h="41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S1 Brute force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existing node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41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S2 Threshold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Cosine similarity above θ = 0.6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 to n (uncapped)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  <a:tr h="41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S3 ANN retrieval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k = 10 (FAISS HNSW)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41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S4 Bounded bucket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LSH segment, (s_min, s_max) = (5, 10)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5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675" marB="66675" marR="66675" marL="666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</a:tbl>
          </a:graphicData>
        </a:graphic>
      </p:graphicFrame>
      <p:sp>
        <p:nvSpPr>
          <p:cNvPr id="305" name="Google Shape;305;p17"/>
          <p:cNvSpPr/>
          <p:nvPr/>
        </p:nvSpPr>
        <p:spPr>
          <a:xfrm>
            <a:off x="231300" y="4807525"/>
            <a:ext cx="108834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300"/>
              <a:buFont typeface="IBM Plex Sans"/>
              <a:buNone/>
            </a:pPr>
            <a:r>
              <a:rPr i="0" lang="en-PH" sz="1500" u="none" cap="none" strike="noStrike">
                <a:solidFill>
                  <a:srgbClr val="3B4556"/>
                </a:solidFill>
                <a:latin typeface="Calibri"/>
                <a:ea typeface="Calibri"/>
                <a:cs typeface="Calibri"/>
                <a:sym typeface="Calibri"/>
              </a:rPr>
              <a:t>Every strategy uses the same decision step (DeepSeek V</a:t>
            </a:r>
            <a:r>
              <a:rPr lang="en-PH" sz="1500">
                <a:solidFill>
                  <a:srgbClr val="3B4556"/>
                </a:solidFill>
                <a:latin typeface="Calibri"/>
                <a:ea typeface="Calibri"/>
                <a:cs typeface="Calibri"/>
                <a:sym typeface="Calibri"/>
              </a:rPr>
              <a:t>4 Flash</a:t>
            </a:r>
            <a:r>
              <a:rPr i="0" lang="en-PH" sz="1500" u="none" cap="none" strike="noStrike">
                <a:solidFill>
                  <a:srgbClr val="3B4556"/>
                </a:solidFill>
                <a:latin typeface="Calibri"/>
                <a:ea typeface="Calibri"/>
                <a:cs typeface="Calibri"/>
                <a:sym typeface="Calibri"/>
              </a:rPr>
              <a:t>, temperature 0, one call per candidate), so differences come from the narrowing mechanism. Results are means with 95% bootstrap intervals, with no hypothesis tests.</a:t>
            </a:r>
            <a:endParaRPr i="0" sz="1500" u="none" cap="none" strike="noStrike">
              <a:solidFill>
                <a:srgbClr val="1421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bf52a1989321739_1_27"/>
          <p:cNvSpPr/>
          <p:nvPr/>
        </p:nvSpPr>
        <p:spPr>
          <a:xfrm>
            <a:off x="425150" y="1595794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lang="en-PH" sz="1500">
                <a:solidFill>
                  <a:srgbClr val="1F6F8B"/>
                </a:solidFill>
                <a:latin typeface="IBM Plex Sans"/>
                <a:ea typeface="IBM Plex Sans"/>
                <a:cs typeface="IBM Plex Sans"/>
                <a:sym typeface="IBM Plex Sans"/>
              </a:rPr>
              <a:t>RQ1: How do time and LLM calls per insertion change as the graph grows?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2" name="Google Shape;312;hbf52a1989321739_1_27"/>
          <p:cNvSpPr txBox="1"/>
          <p:nvPr/>
        </p:nvSpPr>
        <p:spPr>
          <a:xfrm>
            <a:off x="425150" y="2035933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Wall-clock time per insertion at n = 2,000</a:t>
            </a:r>
            <a:endParaRPr sz="3000">
              <a:solidFill>
                <a:srgbClr val="14213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13" name="Google Shape;313;hbf52a1989321739_1_27"/>
          <p:cNvSpPr/>
          <p:nvPr/>
        </p:nvSpPr>
        <p:spPr>
          <a:xfrm>
            <a:off x="425150" y="2632833"/>
            <a:ext cx="2519700" cy="1668900"/>
          </a:xfrm>
          <a:prstGeom prst="roundRect">
            <a:avLst>
              <a:gd fmla="val 6088" name="adj"/>
            </a:avLst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hbf52a1989321739_1_27"/>
          <p:cNvSpPr/>
          <p:nvPr/>
        </p:nvSpPr>
        <p:spPr>
          <a:xfrm>
            <a:off x="602950" y="2810633"/>
            <a:ext cx="2229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7F5EF"/>
              </a:buClr>
              <a:buSzPts val="3600"/>
              <a:buFont typeface="Source Serif 4"/>
              <a:buNone/>
            </a:pPr>
            <a:r>
              <a:rPr b="1" i="0" lang="en-PH" sz="3600" u="none" cap="none" strike="noStrike">
                <a:solidFill>
                  <a:srgbClr val="F7F5E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1,713 s</a:t>
            </a:r>
            <a:endParaRPr b="0" i="0" sz="3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5" name="Google Shape;315;hbf52a1989321739_1_27"/>
          <p:cNvSpPr/>
          <p:nvPr/>
        </p:nvSpPr>
        <p:spPr>
          <a:xfrm>
            <a:off x="602950" y="3366894"/>
            <a:ext cx="222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3"/>
              </a:buClr>
              <a:buSzPts val="1400"/>
              <a:buFont typeface="IBM Plex Sans"/>
              <a:buNone/>
            </a:pPr>
            <a:r>
              <a:rPr b="0" i="0" lang="en-PH" sz="1400" u="none" cap="none" strike="noStrike">
                <a:solidFill>
                  <a:srgbClr val="C9D3E3"/>
                </a:solidFill>
                <a:latin typeface="IBM Plex Sans"/>
                <a:ea typeface="IBM Plex Sans"/>
                <a:cs typeface="IBM Plex Sans"/>
                <a:sym typeface="IBM Plex Sans"/>
              </a:rPr>
              <a:t>S1 Brute force. Slope 0.96, approximately linear.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6" name="Google Shape;316;hbf52a1989321739_1_27"/>
          <p:cNvSpPr/>
          <p:nvPr/>
        </p:nvSpPr>
        <p:spPr>
          <a:xfrm>
            <a:off x="3100405" y="2636008"/>
            <a:ext cx="2523600" cy="1662300"/>
          </a:xfrm>
          <a:prstGeom prst="roundRect">
            <a:avLst>
              <a:gd fmla="val 5921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hbf52a1989321739_1_27"/>
          <p:cNvSpPr/>
          <p:nvPr/>
        </p:nvSpPr>
        <p:spPr>
          <a:xfrm>
            <a:off x="3280110" y="2815715"/>
            <a:ext cx="2229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600"/>
              <a:buFont typeface="Source Serif 4"/>
              <a:buNone/>
            </a:pPr>
            <a:r>
              <a:rPr b="1" i="0" lang="en-PH" sz="3600" u="none" cap="none" strike="noStrike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0.94 s</a:t>
            </a:r>
            <a:endParaRPr b="0" i="0" sz="3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8" name="Google Shape;318;hbf52a1989321739_1_27"/>
          <p:cNvSpPr/>
          <p:nvPr/>
        </p:nvSpPr>
        <p:spPr>
          <a:xfrm>
            <a:off x="3280110" y="3371976"/>
            <a:ext cx="22290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S2 θ = 0.6. Weak fit (R² 0.46): most trials make no call.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9" name="Google Shape;319;hbf52a1989321739_1_27"/>
          <p:cNvSpPr/>
          <p:nvPr/>
        </p:nvSpPr>
        <p:spPr>
          <a:xfrm>
            <a:off x="5782645" y="2636008"/>
            <a:ext cx="2523600" cy="1662300"/>
          </a:xfrm>
          <a:prstGeom prst="roundRect">
            <a:avLst>
              <a:gd fmla="val 5921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hbf52a1989321739_1_27"/>
          <p:cNvSpPr/>
          <p:nvPr/>
        </p:nvSpPr>
        <p:spPr>
          <a:xfrm>
            <a:off x="5962350" y="2815715"/>
            <a:ext cx="2229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600"/>
              <a:buFont typeface="Source Serif 4"/>
              <a:buNone/>
            </a:pPr>
            <a:r>
              <a:rPr b="1" i="0" lang="en-PH" sz="3600" u="none" cap="none" strike="noStrike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8.28 s</a:t>
            </a:r>
            <a:endParaRPr b="0" i="0" sz="3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1" name="Google Shape;321;hbf52a1989321739_1_27"/>
          <p:cNvSpPr/>
          <p:nvPr/>
        </p:nvSpPr>
        <p:spPr>
          <a:xfrm>
            <a:off x="5962350" y="3371976"/>
            <a:ext cx="222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S3 ANN, k = 10. Slope −0.02, approximately flat.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2" name="Google Shape;322;hbf52a1989321739_1_27"/>
          <p:cNvSpPr/>
          <p:nvPr/>
        </p:nvSpPr>
        <p:spPr>
          <a:xfrm>
            <a:off x="8464885" y="2636008"/>
            <a:ext cx="2523600" cy="1662300"/>
          </a:xfrm>
          <a:prstGeom prst="roundRect">
            <a:avLst>
              <a:gd fmla="val 5921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hbf52a1989321739_1_27"/>
          <p:cNvSpPr/>
          <p:nvPr/>
        </p:nvSpPr>
        <p:spPr>
          <a:xfrm>
            <a:off x="8644590" y="2815715"/>
            <a:ext cx="2229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600"/>
              <a:buFont typeface="Source Serif 4"/>
              <a:buNone/>
            </a:pPr>
            <a:r>
              <a:rPr b="1" i="0" lang="en-PH" sz="3600" u="none" cap="none" strike="noStrike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5.64 s</a:t>
            </a:r>
            <a:endParaRPr b="0" i="0" sz="3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4" name="Google Shape;324;hbf52a1989321739_1_27"/>
          <p:cNvSpPr/>
          <p:nvPr/>
        </p:nvSpPr>
        <p:spPr>
          <a:xfrm>
            <a:off x="8644590" y="3371976"/>
            <a:ext cx="222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S4 Bucket (5, 10). Slope 0.008, approximately flat.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5" name="Google Shape;325;hbf52a1989321739_1_27"/>
          <p:cNvSpPr/>
          <p:nvPr/>
        </p:nvSpPr>
        <p:spPr>
          <a:xfrm>
            <a:off x="425150" y="4479415"/>
            <a:ext cx="10566300" cy="1369200"/>
          </a:xfrm>
          <a:prstGeom prst="roundRect">
            <a:avLst>
              <a:gd fmla="val 7421" name="adj"/>
            </a:avLst>
          </a:prstGeom>
          <a:solidFill>
            <a:srgbClr val="E4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hbf52a1989321739_1_27"/>
          <p:cNvSpPr/>
          <p:nvPr/>
        </p:nvSpPr>
        <p:spPr>
          <a:xfrm>
            <a:off x="602950" y="4657215"/>
            <a:ext cx="105171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So what</a:t>
            </a:r>
            <a:endParaRPr b="0" i="0" sz="1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7" name="Google Shape;327;hbf52a1989321739_1_27"/>
          <p:cNvSpPr/>
          <p:nvPr/>
        </p:nvSpPr>
        <p:spPr>
          <a:xfrm>
            <a:off x="688294" y="4977255"/>
            <a:ext cx="104241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86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300"/>
              <a:buFont typeface="IBM Plex Sans"/>
              <a:buChar char="•"/>
            </a:pPr>
            <a:r>
              <a:rPr b="0" i="0" lang="en-PH" sz="13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Time follows calls: about 0.8 to 0.9 s per LLM call, and the shortlist step takes under 0.03 s.</a:t>
            </a:r>
            <a:endParaRPr b="0" i="0" sz="13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6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300"/>
              <a:buFont typeface="IBM Plex Sans"/>
              <a:buChar char="•"/>
            </a:pPr>
            <a:r>
              <a:rPr b="0" i="0" lang="en-PH" sz="13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At n = 2,000, brute force is about 207 times slower than S3 and 304 times slower than S4.</a:t>
            </a:r>
            <a:endParaRPr b="0" i="0" sz="13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6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300"/>
              <a:buFont typeface="IBM Plex Sans"/>
              <a:buChar char="•"/>
            </a:pPr>
            <a:r>
              <a:rPr b="0" i="0" lang="en-PH" sz="13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Answer to RQ1: linear for brute force, flat for the capped strategies, call-dependent for the threshold.</a:t>
            </a:r>
            <a:endParaRPr b="0" i="0" sz="13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77111e4a44aed052_0"/>
          <p:cNvSpPr txBox="1"/>
          <p:nvPr>
            <p:ph type="title"/>
          </p:nvPr>
        </p:nvSpPr>
        <p:spPr>
          <a:xfrm>
            <a:off x="831850" y="1344168"/>
            <a:ext cx="9948900" cy="237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77111e4a44aed052_0"/>
          <p:cNvSpPr txBox="1"/>
          <p:nvPr>
            <p:ph idx="1" type="body"/>
          </p:nvPr>
        </p:nvSpPr>
        <p:spPr>
          <a:xfrm>
            <a:off x="831850" y="3748215"/>
            <a:ext cx="99489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77111e4a44aed052_0"/>
          <p:cNvSpPr/>
          <p:nvPr/>
        </p:nvSpPr>
        <p:spPr>
          <a:xfrm>
            <a:off x="0" y="25"/>
            <a:ext cx="12192000" cy="685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g77111e4a44aed052_0" title="F2b_wallclock_scaling_log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5634"/>
            <a:ext cx="12192000" cy="4726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77111e4a44aed052_8"/>
          <p:cNvSpPr txBox="1"/>
          <p:nvPr>
            <p:ph type="title"/>
          </p:nvPr>
        </p:nvSpPr>
        <p:spPr>
          <a:xfrm>
            <a:off x="831850" y="1344168"/>
            <a:ext cx="9948900" cy="237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77111e4a44aed052_8"/>
          <p:cNvSpPr txBox="1"/>
          <p:nvPr>
            <p:ph idx="1" type="body"/>
          </p:nvPr>
        </p:nvSpPr>
        <p:spPr>
          <a:xfrm>
            <a:off x="831850" y="3748215"/>
            <a:ext cx="99489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77111e4a44aed052_8"/>
          <p:cNvSpPr/>
          <p:nvPr/>
        </p:nvSpPr>
        <p:spPr>
          <a:xfrm>
            <a:off x="0" y="25"/>
            <a:ext cx="12192000" cy="685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g77111e4a44aed052_8" title="F2_wallclock_scal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5609"/>
            <a:ext cx="12192000" cy="4726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hbf52a1989321739_1_58"/>
          <p:cNvSpPr/>
          <p:nvPr/>
        </p:nvSpPr>
        <p:spPr>
          <a:xfrm>
            <a:off x="425150" y="1595794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lang="en-PH" sz="1500">
                <a:solidFill>
                  <a:srgbClr val="1F6F8B"/>
                </a:solidFill>
                <a:latin typeface="IBM Plex Sans"/>
                <a:ea typeface="IBM Plex Sans"/>
                <a:cs typeface="IBM Plex Sans"/>
                <a:sym typeface="IBM Plex Sans"/>
              </a:rPr>
              <a:t>RQ1: How do time and LLM calls per insertion change as the graph grows?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2" name="Google Shape;352;hbf52a1989321739_1_58"/>
          <p:cNvSpPr txBox="1"/>
          <p:nvPr/>
        </p:nvSpPr>
        <p:spPr>
          <a:xfrm>
            <a:off x="425150" y="2026733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LLM calls per insertion by graph size</a:t>
            </a:r>
            <a:endParaRPr sz="3000">
              <a:solidFill>
                <a:srgbClr val="14213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aphicFrame>
        <p:nvGraphicFramePr>
          <p:cNvPr id="353" name="Google Shape;353;hbf52a1989321739_1_58"/>
          <p:cNvGraphicFramePr/>
          <p:nvPr/>
        </p:nvGraphicFramePr>
        <p:xfrm>
          <a:off x="435310" y="2633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{10421629-3B28-4E87-9D99-BD921BF515C7}</a:tableStyleId>
              </a:tblPr>
              <a:tblGrid>
                <a:gridCol w="3166875"/>
                <a:gridCol w="950050"/>
                <a:gridCol w="844500"/>
                <a:gridCol w="844500"/>
                <a:gridCol w="844500"/>
                <a:gridCol w="950050"/>
                <a:gridCol w="950050"/>
                <a:gridCol w="2005675"/>
              </a:tblGrid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Strategy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 = 50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Log-log slope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S1 Brute force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1.0000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S2 θ = 0.6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0.7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0.8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undefined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S3 ANN, k = 10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S4 Bucket (5, 10)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6.6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7.5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6.8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−0.0004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</a:tbl>
          </a:graphicData>
        </a:graphic>
      </p:graphicFrame>
      <p:sp>
        <p:nvSpPr>
          <p:cNvPr id="354" name="Google Shape;354;hbf52a1989321739_1_58"/>
          <p:cNvSpPr/>
          <p:nvPr/>
        </p:nvSpPr>
        <p:spPr>
          <a:xfrm>
            <a:off x="425150" y="4729292"/>
            <a:ext cx="10566300" cy="1369200"/>
          </a:xfrm>
          <a:prstGeom prst="roundRect">
            <a:avLst>
              <a:gd fmla="val 7421" name="adj"/>
            </a:avLst>
          </a:prstGeom>
          <a:solidFill>
            <a:srgbClr val="E4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hbf52a1989321739_1_58"/>
          <p:cNvSpPr/>
          <p:nvPr/>
        </p:nvSpPr>
        <p:spPr>
          <a:xfrm>
            <a:off x="602950" y="4907092"/>
            <a:ext cx="105171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So what</a:t>
            </a:r>
            <a:endParaRPr b="0" i="0" sz="1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6" name="Google Shape;356;hbf52a1989321739_1_58"/>
          <p:cNvSpPr/>
          <p:nvPr/>
        </p:nvSpPr>
        <p:spPr>
          <a:xfrm>
            <a:off x="688294" y="5227133"/>
            <a:ext cx="104241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686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300"/>
              <a:buFont typeface="IBM Plex Sans"/>
              <a:buChar char="•"/>
            </a:pPr>
            <a:r>
              <a:rPr b="0" i="0" lang="en-PH" sz="13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S1 needs n calls per insertion, the linear cost that [1] warned about.</a:t>
            </a:r>
            <a:endParaRPr b="0" i="0" sz="13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6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300"/>
              <a:buFont typeface="IBM Plex Sans"/>
              <a:buChar char="•"/>
            </a:pPr>
            <a:r>
              <a:rPr b="0" i="0" lang="en-PH" sz="13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S3 and S4 stay flat because their shortlists are capped at 10 candidates.</a:t>
            </a:r>
            <a:endParaRPr b="0" i="0" sz="13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686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300"/>
              <a:buFont typeface="IBM Plex Sans"/>
              <a:buChar char="•"/>
            </a:pPr>
            <a:r>
              <a:rPr b="0" i="0" lang="en-PH" sz="13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S2 grows with the nodes above θ, from a small base: 13.5 calls at θ = 0.4 and n = 2,000.</a:t>
            </a:r>
            <a:endParaRPr b="0" i="0" sz="13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77111e4a44aed052_17"/>
          <p:cNvSpPr txBox="1"/>
          <p:nvPr>
            <p:ph type="title"/>
          </p:nvPr>
        </p:nvSpPr>
        <p:spPr>
          <a:xfrm>
            <a:off x="831850" y="1344168"/>
            <a:ext cx="9948900" cy="237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77111e4a44aed052_17"/>
          <p:cNvSpPr txBox="1"/>
          <p:nvPr>
            <p:ph idx="1" type="body"/>
          </p:nvPr>
        </p:nvSpPr>
        <p:spPr>
          <a:xfrm>
            <a:off x="831850" y="3748215"/>
            <a:ext cx="99489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77111e4a44aed052_17"/>
          <p:cNvSpPr/>
          <p:nvPr/>
        </p:nvSpPr>
        <p:spPr>
          <a:xfrm>
            <a:off x="0" y="25"/>
            <a:ext cx="12192000" cy="685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g77111e4a44aed052_17" title="F1b_calls_scaling_log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164" y="0"/>
            <a:ext cx="9451674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bf52a1989321739_1_84"/>
          <p:cNvSpPr/>
          <p:nvPr/>
        </p:nvSpPr>
        <p:spPr>
          <a:xfrm>
            <a:off x="425150" y="1518175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lang="en-PH" sz="1500">
                <a:solidFill>
                  <a:srgbClr val="1F6F8B"/>
                </a:solidFill>
                <a:latin typeface="IBM Plex Sans"/>
                <a:ea typeface="IBM Plex Sans"/>
                <a:cs typeface="IBM Plex Sans"/>
                <a:sym typeface="IBM Plex Sans"/>
              </a:rPr>
              <a:t>RQ2: Does placement accuracy hold up as the graph grows?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2" name="Google Shape;372;hbf52a1989321739_1_84"/>
          <p:cNvSpPr txBox="1"/>
          <p:nvPr/>
        </p:nvSpPr>
        <p:spPr>
          <a:xfrm>
            <a:off x="425150" y="1900139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Accuracy of the primary configurations</a:t>
            </a:r>
            <a:endParaRPr sz="3000">
              <a:solidFill>
                <a:srgbClr val="14213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aphicFrame>
        <p:nvGraphicFramePr>
          <p:cNvPr id="373" name="Google Shape;373;hbf52a1989321739_1_84"/>
          <p:cNvGraphicFramePr/>
          <p:nvPr/>
        </p:nvGraphicFramePr>
        <p:xfrm>
          <a:off x="435310" y="25071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{10421629-3B28-4E87-9D99-BD921BF515C7}</a:tableStyleId>
              </a:tblPr>
              <a:tblGrid>
                <a:gridCol w="1794550"/>
                <a:gridCol w="2427925"/>
                <a:gridCol w="1055625"/>
                <a:gridCol w="1266750"/>
                <a:gridCol w="1161175"/>
                <a:gridCol w="1055625"/>
                <a:gridCol w="1794550"/>
              </a:tblGrid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Corpus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Strategy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Calls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Precision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Recall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Shortlist recall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DSA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S1 Brute force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28.0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0.548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0.630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0.586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1.000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DSA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S2 θ = 0.6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0.76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0.643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0.083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0.148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0.111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DSA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S3 k = 10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10.0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0.639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0.426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0.511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0.528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DSA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S4 (5, 10)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6.97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0.594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0.176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0.271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0.259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Metacademy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S1 Brute force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140.0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0.081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0.624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0.143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1.000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Metacademy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S2 θ = 0.6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1.13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0.594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0.174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0.270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0.202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Metacademy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S3 k = 10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10.0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0.245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0.367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0.294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0.505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Metacademy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S4 (5, 10)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7.37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0.149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0.092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0.114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0.147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</a:tbl>
          </a:graphicData>
        </a:graphic>
      </p:graphicFrame>
      <p:sp>
        <p:nvSpPr>
          <p:cNvPr id="374" name="Google Shape;374;hbf52a1989321739_1_84"/>
          <p:cNvSpPr/>
          <p:nvPr/>
        </p:nvSpPr>
        <p:spPr>
          <a:xfrm>
            <a:off x="425150" y="6136861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300"/>
              <a:buFont typeface="IBM Plex Sans"/>
              <a:buNone/>
            </a:pPr>
            <a:r>
              <a:rPr b="0" i="0" lang="en-PH" sz="13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best F1 changes with the corpus: S1 on DSA (0.586), S3 on Metacademy (0.294). Micro-averaged, one run each.</a:t>
            </a:r>
            <a:endParaRPr b="0" i="0" sz="13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bf52a1989321739_1_98"/>
          <p:cNvSpPr/>
          <p:nvPr/>
        </p:nvSpPr>
        <p:spPr>
          <a:xfrm>
            <a:off x="425150" y="1518175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lang="en-PH" sz="1500">
                <a:solidFill>
                  <a:srgbClr val="1F6F8B"/>
                </a:solidFill>
                <a:latin typeface="IBM Plex Sans"/>
                <a:ea typeface="IBM Plex Sans"/>
                <a:cs typeface="IBM Plex Sans"/>
                <a:sym typeface="IBM Plex Sans"/>
              </a:rPr>
              <a:t>RQ2: Does placement accuracy hold up as the graph grows?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1" name="Google Shape;381;hbf52a1989321739_1_98"/>
          <p:cNvSpPr txBox="1"/>
          <p:nvPr/>
        </p:nvSpPr>
        <p:spPr>
          <a:xfrm>
            <a:off x="425150" y="2074614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Why accuracy differs across strategies</a:t>
            </a:r>
            <a:endParaRPr sz="3000">
              <a:solidFill>
                <a:srgbClr val="14213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382" name="Google Shape;382;hbf52a1989321739_1_98"/>
          <p:cNvSpPr/>
          <p:nvPr/>
        </p:nvSpPr>
        <p:spPr>
          <a:xfrm>
            <a:off x="428325" y="2674689"/>
            <a:ext cx="3414300" cy="1919100"/>
          </a:xfrm>
          <a:prstGeom prst="roundRect">
            <a:avLst>
              <a:gd fmla="val 5129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hbf52a1989321739_1_98"/>
          <p:cNvSpPr/>
          <p:nvPr/>
        </p:nvSpPr>
        <p:spPr>
          <a:xfrm>
            <a:off x="608030" y="2854396"/>
            <a:ext cx="3146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Brute force over-links</a:t>
            </a:r>
            <a:endParaRPr b="0" i="0" sz="1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4" name="Google Shape;384;hbf52a1989321739_1_98"/>
          <p:cNvSpPr/>
          <p:nvPr/>
        </p:nvSpPr>
        <p:spPr>
          <a:xfrm>
            <a:off x="608030" y="3174436"/>
            <a:ext cx="31464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Recall is steady (0.630 and 0.624), but precision falls from 0.548 to 0.081 when 140 candidates are judged one by one.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5" name="Google Shape;385;hbf52a1989321739_1_98"/>
          <p:cNvSpPr/>
          <p:nvPr/>
        </p:nvSpPr>
        <p:spPr>
          <a:xfrm>
            <a:off x="4001232" y="2674689"/>
            <a:ext cx="3414300" cy="1919100"/>
          </a:xfrm>
          <a:prstGeom prst="roundRect">
            <a:avLst>
              <a:gd fmla="val 5129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hbf52a1989321739_1_98"/>
          <p:cNvSpPr/>
          <p:nvPr/>
        </p:nvSpPr>
        <p:spPr>
          <a:xfrm>
            <a:off x="4180937" y="2854396"/>
            <a:ext cx="31464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Narrowing trades recall for precision</a:t>
            </a:r>
            <a:endParaRPr b="0" i="0" sz="1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7" name="Google Shape;387;hbf52a1989321739_1_98"/>
          <p:cNvSpPr/>
          <p:nvPr/>
        </p:nvSpPr>
        <p:spPr>
          <a:xfrm>
            <a:off x="4180937" y="3418275"/>
            <a:ext cx="31464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S2 has precision of 0.643 and 0.594 but recall of only 0.083 and 0.174, because at θ = 0.6 most concepts reach no decision.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8" name="Google Shape;388;hbf52a1989321739_1_98"/>
          <p:cNvSpPr/>
          <p:nvPr/>
        </p:nvSpPr>
        <p:spPr>
          <a:xfrm>
            <a:off x="7574218" y="2674689"/>
            <a:ext cx="3414300" cy="1919100"/>
          </a:xfrm>
          <a:prstGeom prst="roundRect">
            <a:avLst>
              <a:gd fmla="val 5129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hbf52a1989321739_1_98"/>
          <p:cNvSpPr/>
          <p:nvPr/>
        </p:nvSpPr>
        <p:spPr>
          <a:xfrm>
            <a:off x="7753924" y="2854396"/>
            <a:ext cx="3146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decision step caps recall</a:t>
            </a:r>
            <a:endParaRPr b="0" i="0" sz="1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0" name="Google Shape;390;hbf52a1989321739_1_98"/>
          <p:cNvSpPr/>
          <p:nvPr/>
        </p:nvSpPr>
        <p:spPr>
          <a:xfrm>
            <a:off x="7753924" y="3174436"/>
            <a:ext cx="31464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Recall never exceeds shortlist recall, and the decision step labels only 62% to 86% of shortlisted true neighbours correctly.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1" name="Google Shape;391;hbf52a1989321739_1_98"/>
          <p:cNvSpPr/>
          <p:nvPr/>
        </p:nvSpPr>
        <p:spPr>
          <a:xfrm>
            <a:off x="425150" y="4774636"/>
            <a:ext cx="10566300" cy="1173600"/>
          </a:xfrm>
          <a:prstGeom prst="roundRect">
            <a:avLst>
              <a:gd fmla="val 8658" name="adj"/>
            </a:avLst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hbf52a1989321739_1_98"/>
          <p:cNvSpPr/>
          <p:nvPr/>
        </p:nvSpPr>
        <p:spPr>
          <a:xfrm>
            <a:off x="602950" y="4952436"/>
            <a:ext cx="105171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E0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8FD0E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 what</a:t>
            </a:r>
            <a:endParaRPr b="0" i="0" sz="1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3" name="Google Shape;393;hbf52a1989321739_1_98"/>
          <p:cNvSpPr/>
          <p:nvPr/>
        </p:nvSpPr>
        <p:spPr>
          <a:xfrm>
            <a:off x="602950" y="5272475"/>
            <a:ext cx="1051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5EF"/>
              </a:buClr>
              <a:buSzPts val="1400"/>
              <a:buFont typeface="IBM Plex Sans"/>
              <a:buNone/>
            </a:pPr>
            <a:r>
              <a:rPr b="0" i="0" lang="en-PH" sz="1400" u="none" cap="none" strike="noStrike">
                <a:solidFill>
                  <a:srgbClr val="F7F5EF"/>
                </a:solidFill>
                <a:latin typeface="IBM Plex Sans"/>
                <a:ea typeface="IBM Plex Sans"/>
                <a:cs typeface="IBM Plex Sans"/>
                <a:sym typeface="IBM Plex Sans"/>
              </a:rPr>
              <a:t>F1 is lower on Metacademy than on DSA for S1, S3 and S4 (S3: 0.511 to 0.294), but domain and edge density differ too, so size alone cannot be blamed. The recall-precision trade-off of narrowing echoes the one reported for embeddings and LLMs in [6].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77111e4a44aed052_26"/>
          <p:cNvSpPr txBox="1"/>
          <p:nvPr>
            <p:ph type="title"/>
          </p:nvPr>
        </p:nvSpPr>
        <p:spPr>
          <a:xfrm>
            <a:off x="831850" y="1344168"/>
            <a:ext cx="9948900" cy="237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77111e4a44aed052_26"/>
          <p:cNvSpPr txBox="1"/>
          <p:nvPr>
            <p:ph idx="1" type="body"/>
          </p:nvPr>
        </p:nvSpPr>
        <p:spPr>
          <a:xfrm>
            <a:off x="831850" y="3748215"/>
            <a:ext cx="99489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77111e4a44aed052_26"/>
          <p:cNvSpPr/>
          <p:nvPr/>
        </p:nvSpPr>
        <p:spPr>
          <a:xfrm>
            <a:off x="0" y="25"/>
            <a:ext cx="12192000" cy="685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g77111e4a44aed052_26" title="F4_accuracy_by_strateg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3836"/>
            <a:ext cx="12192000" cy="4530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hbf52a1989321739_2_0"/>
          <p:cNvSpPr/>
          <p:nvPr/>
        </p:nvSpPr>
        <p:spPr>
          <a:xfrm>
            <a:off x="425150" y="1518175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lang="en-PH" sz="1500">
                <a:solidFill>
                  <a:srgbClr val="1F6F8B"/>
                </a:solidFill>
                <a:latin typeface="IBM Plex Sans"/>
                <a:ea typeface="IBM Plex Sans"/>
                <a:cs typeface="IBM Plex Sans"/>
                <a:sym typeface="IBM Plex Sans"/>
              </a:rPr>
              <a:t>RQ2: Does placement accuracy hold up as the graph grows?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9" name="Google Shape;409;hbf52a1989321739_2_0"/>
          <p:cNvSpPr txBox="1"/>
          <p:nvPr/>
        </p:nvSpPr>
        <p:spPr>
          <a:xfrm>
            <a:off x="425150" y="2021839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Looser settings help only on DSA</a:t>
            </a:r>
            <a:endParaRPr sz="3000">
              <a:solidFill>
                <a:srgbClr val="14213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aphicFrame>
        <p:nvGraphicFramePr>
          <p:cNvPr id="410" name="Google Shape;410;hbf52a1989321739_2_0"/>
          <p:cNvGraphicFramePr/>
          <p:nvPr/>
        </p:nvGraphicFramePr>
        <p:xfrm>
          <a:off x="435310" y="26288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{10421629-3B28-4E87-9D99-BD921BF515C7}</a:tableStyleId>
              </a:tblPr>
              <a:tblGrid>
                <a:gridCol w="3589125"/>
                <a:gridCol w="1689000"/>
                <a:gridCol w="1689000"/>
                <a:gridCol w="3589125"/>
              </a:tblGrid>
              <a:tr h="35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PH" sz="13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Setting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PH" sz="13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DSA F1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PH" sz="13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Meta F1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PH" sz="13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Calls (DSA / Meta)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</a:tr>
              <a:tr h="35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S2 θ = 0.4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0.269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0.295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2.2 / 7.1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5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S2 θ = 0.5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0.191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0.311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1.2 / 2.9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5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S2 θ = 0.6 (primary)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0.148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0.270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0.8 / 1.1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5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S3 k = 5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0.374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0.368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 / 5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  <a:tr h="35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S3 k = 10 (primary)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0.511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0.294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 / 10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  <a:tr h="35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S3 k = 20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0.569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0.266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 / 20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  <a:tr h="35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S4 (2, 5)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0.102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0.100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3.1 / 3.3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5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S4 (5, 10) (primary)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0.271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0.114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7.0 / 7.4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56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S4 (10, 20)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0.486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0.148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PH" sz="13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14.2 / 15.9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77111e4a44aed052_35"/>
          <p:cNvSpPr txBox="1"/>
          <p:nvPr>
            <p:ph type="title"/>
          </p:nvPr>
        </p:nvSpPr>
        <p:spPr>
          <a:xfrm>
            <a:off x="831850" y="1344168"/>
            <a:ext cx="9948900" cy="237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77111e4a44aed052_35"/>
          <p:cNvSpPr txBox="1"/>
          <p:nvPr>
            <p:ph idx="1" type="body"/>
          </p:nvPr>
        </p:nvSpPr>
        <p:spPr>
          <a:xfrm>
            <a:off x="831850" y="3748215"/>
            <a:ext cx="99489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77111e4a44aed052_35"/>
          <p:cNvSpPr/>
          <p:nvPr/>
        </p:nvSpPr>
        <p:spPr>
          <a:xfrm>
            <a:off x="0" y="25"/>
            <a:ext cx="12192000" cy="685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g77111e4a44aed052_35" title="F6_cost_vs_accuracy_domin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8922"/>
            <a:ext cx="12192000" cy="5060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hbf52a1989321739_1_119"/>
          <p:cNvSpPr/>
          <p:nvPr/>
        </p:nvSpPr>
        <p:spPr>
          <a:xfrm>
            <a:off x="425150" y="1518175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lang="en-PH" sz="1500">
                <a:solidFill>
                  <a:srgbClr val="1F6F8B"/>
                </a:solidFill>
                <a:latin typeface="IBM Plex Sans"/>
                <a:ea typeface="IBM Plex Sans"/>
                <a:cs typeface="IBM Plex Sans"/>
                <a:sym typeface="IBM Plex Sans"/>
              </a:rPr>
              <a:t>RQ3: How do the four strategies compare under identical conditions?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6" name="Google Shape;426;hbf52a1989321739_1_119"/>
          <p:cNvSpPr txBox="1"/>
          <p:nvPr/>
        </p:nvSpPr>
        <p:spPr>
          <a:xfrm>
            <a:off x="425150" y="2113367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Trade-offs on DSA, domination on Metacademy</a:t>
            </a:r>
            <a:endParaRPr sz="3000">
              <a:solidFill>
                <a:srgbClr val="14213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427" name="Google Shape;427;hbf52a1989321739_1_119"/>
          <p:cNvSpPr/>
          <p:nvPr/>
        </p:nvSpPr>
        <p:spPr>
          <a:xfrm>
            <a:off x="428325" y="2713442"/>
            <a:ext cx="5200800" cy="1675200"/>
          </a:xfrm>
          <a:prstGeom prst="roundRect">
            <a:avLst>
              <a:gd fmla="val 5876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hbf52a1989321739_1_119"/>
          <p:cNvSpPr/>
          <p:nvPr/>
        </p:nvSpPr>
        <p:spPr>
          <a:xfrm>
            <a:off x="608030" y="2893146"/>
            <a:ext cx="49866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DSA (29 concepts)</a:t>
            </a:r>
            <a:endParaRPr b="0" i="0" sz="1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9" name="Google Shape;429;hbf52a1989321739_1_119"/>
          <p:cNvSpPr/>
          <p:nvPr/>
        </p:nvSpPr>
        <p:spPr>
          <a:xfrm>
            <a:off x="686262" y="3213189"/>
            <a:ext cx="49005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pair of strategies is a trade-off.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Best F1 is S1 (0.586), at 28 calls.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S1 gains only +0.075 F1 over S3 for 18 more calls.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0" name="Google Shape;430;hbf52a1989321739_1_119"/>
          <p:cNvSpPr/>
          <p:nvPr/>
        </p:nvSpPr>
        <p:spPr>
          <a:xfrm>
            <a:off x="5787725" y="2713442"/>
            <a:ext cx="5200800" cy="1675200"/>
          </a:xfrm>
          <a:prstGeom prst="roundRect">
            <a:avLst>
              <a:gd fmla="val 5876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hbf52a1989321739_1_119"/>
          <p:cNvSpPr/>
          <p:nvPr/>
        </p:nvSpPr>
        <p:spPr>
          <a:xfrm>
            <a:off x="5967430" y="2893146"/>
            <a:ext cx="49866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Metacademy (141 concepts)</a:t>
            </a:r>
            <a:endParaRPr b="0" i="0" sz="1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2" name="Google Shape;432;hbf52a1989321739_1_119"/>
          <p:cNvSpPr/>
          <p:nvPr/>
        </p:nvSpPr>
        <p:spPr>
          <a:xfrm>
            <a:off x="6045662" y="3213189"/>
            <a:ext cx="49005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S3 dominates S1: F1 +0.151 with 130 fewer calls.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S2 dominates both S1 and S4.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S3 vs S2: ΔF1 = 0.0246, inside the 0.025 margin, so not distinguishable.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3" name="Google Shape;433;hbf52a1989321739_1_119"/>
          <p:cNvSpPr/>
          <p:nvPr/>
        </p:nvSpPr>
        <p:spPr>
          <a:xfrm>
            <a:off x="425150" y="4569550"/>
            <a:ext cx="10566300" cy="1291800"/>
          </a:xfrm>
          <a:prstGeom prst="roundRect">
            <a:avLst>
              <a:gd fmla="val 8658" name="adj"/>
            </a:avLst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34" name="Google Shape;434;hbf52a1989321739_1_119"/>
          <p:cNvSpPr/>
          <p:nvPr/>
        </p:nvSpPr>
        <p:spPr>
          <a:xfrm>
            <a:off x="602950" y="4765246"/>
            <a:ext cx="105171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E0"/>
              </a:buClr>
              <a:buSzPts val="1600"/>
              <a:buFont typeface="IBM Plex Sans"/>
              <a:buNone/>
            </a:pPr>
            <a:r>
              <a:rPr b="1" i="0" lang="en-PH" sz="1700" u="none" cap="none" strike="noStrike">
                <a:solidFill>
                  <a:srgbClr val="8FD0E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 what</a:t>
            </a:r>
            <a:endParaRPr b="0" i="0" sz="17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5" name="Google Shape;435;hbf52a1989321739_1_119"/>
          <p:cNvSpPr/>
          <p:nvPr/>
        </p:nvSpPr>
        <p:spPr>
          <a:xfrm>
            <a:off x="602950" y="5117514"/>
            <a:ext cx="100794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5EF"/>
              </a:buClr>
              <a:buSzPts val="1400"/>
              <a:buFont typeface="IBM Plex Sans"/>
              <a:buNone/>
            </a:pPr>
            <a:r>
              <a:rPr b="0" i="0" lang="en-PH" sz="1500" u="none" cap="none" strike="noStrike">
                <a:solidFill>
                  <a:srgbClr val="F7F5EF"/>
                </a:solidFill>
                <a:latin typeface="IBM Plex Sans"/>
                <a:ea typeface="IBM Plex Sans"/>
                <a:cs typeface="IBM Plex Sans"/>
                <a:sym typeface="IBM Plex Sans"/>
              </a:rPr>
              <a:t>S2’s low call count is a recall cost, not a free saving: most insertions find no candidate above θ, so shortlist recall is only 0.111 and 0.202. The largest graph reverses the DSA picture, because brute force is dominated outright.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77111e4a44aed052_53"/>
          <p:cNvSpPr txBox="1"/>
          <p:nvPr>
            <p:ph type="title"/>
          </p:nvPr>
        </p:nvSpPr>
        <p:spPr>
          <a:xfrm>
            <a:off x="831850" y="1344168"/>
            <a:ext cx="9948900" cy="237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77111e4a44aed052_53"/>
          <p:cNvSpPr txBox="1"/>
          <p:nvPr>
            <p:ph idx="1" type="body"/>
          </p:nvPr>
        </p:nvSpPr>
        <p:spPr>
          <a:xfrm>
            <a:off x="831850" y="3748215"/>
            <a:ext cx="99489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77111e4a44aed052_53"/>
          <p:cNvSpPr/>
          <p:nvPr/>
        </p:nvSpPr>
        <p:spPr>
          <a:xfrm>
            <a:off x="0" y="25"/>
            <a:ext cx="12192000" cy="685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g77111e4a44aed052_53" title="F6_cost_vs_accuracy_domin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8922"/>
            <a:ext cx="12192000" cy="5060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hbf52a1989321739_1_149"/>
          <p:cNvSpPr/>
          <p:nvPr/>
        </p:nvSpPr>
        <p:spPr>
          <a:xfrm>
            <a:off x="425150" y="1518175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lang="en-PH" sz="1500">
                <a:solidFill>
                  <a:srgbClr val="1F6F8B"/>
                </a:solidFill>
                <a:latin typeface="IBM Plex Sans"/>
                <a:ea typeface="IBM Plex Sans"/>
                <a:cs typeface="IBM Plex Sans"/>
                <a:sym typeface="IBM Plex Sans"/>
              </a:rPr>
              <a:t>RQ3: How do the four strategies compare under identical conditions?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1" name="Google Shape;451;hbf52a1989321739_1_149"/>
          <p:cNvSpPr txBox="1"/>
          <p:nvPr/>
        </p:nvSpPr>
        <p:spPr>
          <a:xfrm>
            <a:off x="406350" y="2152117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Only S3 passes every gate</a:t>
            </a:r>
            <a:endParaRPr sz="3000">
              <a:solidFill>
                <a:srgbClr val="14213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aphicFrame>
        <p:nvGraphicFramePr>
          <p:cNvPr id="452" name="Google Shape;452;hbf52a1989321739_1_149"/>
          <p:cNvGraphicFramePr/>
          <p:nvPr/>
        </p:nvGraphicFramePr>
        <p:xfrm>
          <a:off x="416510" y="275917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{10421629-3B28-4E87-9D99-BD921BF515C7}</a:tableStyleId>
              </a:tblPr>
              <a:tblGrid>
                <a:gridCol w="2111250"/>
                <a:gridCol w="2111250"/>
                <a:gridCol w="2111250"/>
                <a:gridCol w="2111250"/>
                <a:gridCol w="2111250"/>
              </a:tblGrid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Strategy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G1: beats random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G2: 50 calls or fewer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G3: not dominated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4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Class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S1 Brute force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Not applicable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Fail (2,000)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Fail on Metacademy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Not effective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S2 θ = 0.6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Not assessable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Pass (0.8)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Pass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Conditionally effective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S3 k = 10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Pass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Pass (10)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Pass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Effective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S4 (5, 10)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Fail on DSA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Pass (7.0)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Fail on Metacademy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4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Not effective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</a:tbl>
          </a:graphicData>
        </a:graphic>
      </p:graphicFrame>
      <p:sp>
        <p:nvSpPr>
          <p:cNvPr id="453" name="Google Shape;453;hbf52a1989321739_1_149"/>
          <p:cNvSpPr/>
          <p:nvPr/>
        </p:nvSpPr>
        <p:spPr>
          <a:xfrm>
            <a:off x="406350" y="4854675"/>
            <a:ext cx="113793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300"/>
              <a:buFont typeface="IBM Plex Sans"/>
              <a:buNone/>
            </a:pPr>
            <a:r>
              <a:rPr b="0" i="0" lang="en-PH" sz="13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Post hoc and single-run. No strategy meets the pilot’s absolute bar (F1 at least 0.50, recall at least 0.70), so S3 is best in a relative sense only.</a:t>
            </a:r>
            <a:endParaRPr b="0" i="0" sz="13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77111e4a44aed052_62"/>
          <p:cNvSpPr txBox="1"/>
          <p:nvPr>
            <p:ph type="title"/>
          </p:nvPr>
        </p:nvSpPr>
        <p:spPr>
          <a:xfrm>
            <a:off x="831850" y="1344168"/>
            <a:ext cx="9948900" cy="237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77111e4a44aed052_62"/>
          <p:cNvSpPr txBox="1"/>
          <p:nvPr>
            <p:ph idx="1" type="body"/>
          </p:nvPr>
        </p:nvSpPr>
        <p:spPr>
          <a:xfrm>
            <a:off x="831850" y="3748215"/>
            <a:ext cx="99489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77111e4a44aed052_62"/>
          <p:cNvSpPr/>
          <p:nvPr/>
        </p:nvSpPr>
        <p:spPr>
          <a:xfrm>
            <a:off x="0" y="25"/>
            <a:ext cx="12192000" cy="685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2" name="Google Shape;462;g77111e4a44aed052_62" title="F7_gates_g1_g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3354" y="0"/>
            <a:ext cx="626529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hbf52a1989321739_1_167"/>
          <p:cNvSpPr/>
          <p:nvPr/>
        </p:nvSpPr>
        <p:spPr>
          <a:xfrm>
            <a:off x="425150" y="1518175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lang="en-PH" sz="1500">
                <a:solidFill>
                  <a:srgbClr val="1F6F8B"/>
                </a:solidFill>
                <a:latin typeface="IBM Plex Sans"/>
                <a:ea typeface="IBM Plex Sans"/>
                <a:cs typeface="IBM Plex Sans"/>
                <a:sym typeface="IBM Plex Sans"/>
              </a:rPr>
              <a:t>RQ3: How do the four strategies compare under identical conditions?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9" name="Google Shape;469;hbf52a1989321739_1_167"/>
          <p:cNvSpPr txBox="1"/>
          <p:nvPr/>
        </p:nvSpPr>
        <p:spPr>
          <a:xfrm>
            <a:off x="425150" y="2056392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S3 is the most stable across weights</a:t>
            </a:r>
            <a:endParaRPr sz="3000">
              <a:solidFill>
                <a:srgbClr val="14213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470" name="Google Shape;470;hbf52a1989321739_1_167"/>
          <p:cNvSpPr/>
          <p:nvPr/>
        </p:nvSpPr>
        <p:spPr>
          <a:xfrm>
            <a:off x="428325" y="2656467"/>
            <a:ext cx="3414300" cy="1924200"/>
          </a:xfrm>
          <a:prstGeom prst="roundRect">
            <a:avLst>
              <a:gd fmla="val 5116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``````````````````````````````````````</a:t>
            </a:r>
            <a:endParaRPr/>
          </a:p>
        </p:txBody>
      </p:sp>
      <p:sp>
        <p:nvSpPr>
          <p:cNvPr id="471" name="Google Shape;471;hbf52a1989321739_1_167"/>
          <p:cNvSpPr/>
          <p:nvPr/>
        </p:nvSpPr>
        <p:spPr>
          <a:xfrm>
            <a:off x="608030" y="2836171"/>
            <a:ext cx="3146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DSA: the leader changes</a:t>
            </a:r>
            <a:endParaRPr b="0" i="0" sz="1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2" name="Google Shape;472;hbf52a1989321739_1_167"/>
          <p:cNvSpPr/>
          <p:nvPr/>
        </p:nvSpPr>
        <p:spPr>
          <a:xfrm>
            <a:off x="599671" y="3156214"/>
            <a:ext cx="3060600" cy="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Accuracy-first: S1 (0.700)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Balanced: S3 (0.587)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Cost-first: S2 (0.700)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3" name="Google Shape;473;hbf52a1989321739_1_167"/>
          <p:cNvSpPr/>
          <p:nvPr/>
        </p:nvSpPr>
        <p:spPr>
          <a:xfrm>
            <a:off x="4001232" y="2656467"/>
            <a:ext cx="3414300" cy="1924200"/>
          </a:xfrm>
          <a:prstGeom prst="roundRect">
            <a:avLst>
              <a:gd fmla="val 5116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hbf52a1989321739_1_167"/>
          <p:cNvSpPr/>
          <p:nvPr/>
        </p:nvSpPr>
        <p:spPr>
          <a:xfrm>
            <a:off x="4180937" y="2836171"/>
            <a:ext cx="3146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Metacademy: S2 leads</a:t>
            </a:r>
            <a:endParaRPr b="0" i="0" sz="1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5" name="Google Shape;475;hbf52a1989321739_1_167"/>
          <p:cNvSpPr/>
          <p:nvPr/>
        </p:nvSpPr>
        <p:spPr>
          <a:xfrm>
            <a:off x="4107642" y="3156225"/>
            <a:ext cx="34143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S2 scores </a:t>
            </a:r>
            <a:r>
              <a:rPr lang="en-PH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0.905 to 0.959</a:t>
            </a: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 in all scenarios.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S3 is second (0.726 to 0.883).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S2 gains on cost what it lacks in recall.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6" name="Google Shape;476;hbf52a1989321739_1_167"/>
          <p:cNvSpPr/>
          <p:nvPr/>
        </p:nvSpPr>
        <p:spPr>
          <a:xfrm>
            <a:off x="7574218" y="2656467"/>
            <a:ext cx="3414300" cy="1924200"/>
          </a:xfrm>
          <a:prstGeom prst="roundRect">
            <a:avLst>
              <a:gd fmla="val 5116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hbf52a1989321739_1_167"/>
          <p:cNvSpPr/>
          <p:nvPr/>
        </p:nvSpPr>
        <p:spPr>
          <a:xfrm>
            <a:off x="7753924" y="2836171"/>
            <a:ext cx="31464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6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20,000 weight draws</a:t>
            </a:r>
            <a:endParaRPr b="0" i="0" sz="16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8" name="Google Shape;478;hbf52a1989321739_1_167"/>
          <p:cNvSpPr/>
          <p:nvPr/>
        </p:nvSpPr>
        <p:spPr>
          <a:xfrm>
            <a:off x="7832156" y="3156214"/>
            <a:ext cx="30606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S3 is last in under 0.5% of draws.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S3 is second most often: 60% (DSA), </a:t>
            </a:r>
            <a:r>
              <a:rPr lang="en-PH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68%</a:t>
            </a: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 (Metacademy).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Char char="•"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S4 is first in no draw.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9" name="Google Shape;479;hbf52a1989321739_1_167"/>
          <p:cNvSpPr/>
          <p:nvPr/>
        </p:nvSpPr>
        <p:spPr>
          <a:xfrm>
            <a:off x="425150" y="4761500"/>
            <a:ext cx="10566300" cy="1695600"/>
          </a:xfrm>
          <a:prstGeom prst="roundRect">
            <a:avLst>
              <a:gd fmla="val 8658" name="adj"/>
            </a:avLst>
          </a:prstGeom>
          <a:solidFill>
            <a:srgbClr val="1421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80" name="Google Shape;480;hbf52a1989321739_1_167"/>
          <p:cNvSpPr/>
          <p:nvPr/>
        </p:nvSpPr>
        <p:spPr>
          <a:xfrm>
            <a:off x="602950" y="4980945"/>
            <a:ext cx="10517100" cy="3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D0E0"/>
              </a:buClr>
              <a:buSzPts val="1600"/>
              <a:buFont typeface="IBM Plex Sans"/>
              <a:buNone/>
            </a:pPr>
            <a:r>
              <a:rPr b="1" i="0" lang="en-PH" sz="1700" u="none" cap="none" strike="noStrike">
                <a:solidFill>
                  <a:srgbClr val="8FD0E0"/>
                </a:solidFill>
                <a:latin typeface="IBM Plex Sans"/>
                <a:ea typeface="IBM Plex Sans"/>
                <a:cs typeface="IBM Plex Sans"/>
                <a:sym typeface="IBM Plex Sans"/>
              </a:rPr>
              <a:t>So what</a:t>
            </a:r>
            <a:endParaRPr b="0" i="0" sz="17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1" name="Google Shape;481;hbf52a1989321739_1_167"/>
          <p:cNvSpPr/>
          <p:nvPr/>
        </p:nvSpPr>
        <p:spPr>
          <a:xfrm>
            <a:off x="602950" y="5375918"/>
            <a:ext cx="101811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5EF"/>
              </a:buClr>
              <a:buSzPts val="1400"/>
              <a:buFont typeface="IBM Plex Sans"/>
              <a:buNone/>
            </a:pPr>
            <a:r>
              <a:rPr b="0" i="0" lang="en-PH" sz="1500" u="none" cap="none" strike="noStrike">
                <a:solidFill>
                  <a:srgbClr val="F7F5EF"/>
                </a:solidFill>
                <a:latin typeface="IBM Plex Sans"/>
                <a:ea typeface="IBM Plex Sans"/>
                <a:cs typeface="IBM Plex Sans"/>
                <a:sym typeface="IBM Plex Sans"/>
              </a:rPr>
              <a:t>A single weighted ranking would support different conclusions depending on the weights. These scores are post hoc, single-run and based on min-max scaling over four strategies, so they describe these measurements, not repeated-run differences.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h1dd01f28c2d3f4cd_1_0"/>
          <p:cNvSpPr txBox="1"/>
          <p:nvPr>
            <p:ph type="title"/>
          </p:nvPr>
        </p:nvSpPr>
        <p:spPr>
          <a:xfrm>
            <a:off x="831850" y="1344168"/>
            <a:ext cx="9948900" cy="237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h1dd01f28c2d3f4cd_1_0"/>
          <p:cNvSpPr txBox="1"/>
          <p:nvPr>
            <p:ph idx="1" type="body"/>
          </p:nvPr>
        </p:nvSpPr>
        <p:spPr>
          <a:xfrm>
            <a:off x="831850" y="3748215"/>
            <a:ext cx="99489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h1dd01f28c2d3f4cd_1_0"/>
          <p:cNvSpPr/>
          <p:nvPr/>
        </p:nvSpPr>
        <p:spPr>
          <a:xfrm>
            <a:off x="0" y="25"/>
            <a:ext cx="12192000" cy="685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0" name="Google Shape;490;h1dd01f28c2d3f4cd_1_0" title="F9_rank_shar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8461"/>
            <a:ext cx="12192000" cy="6721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hbf52a1989321739_1_188"/>
          <p:cNvSpPr/>
          <p:nvPr/>
        </p:nvSpPr>
        <p:spPr>
          <a:xfrm>
            <a:off x="425150" y="1518175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lang="en-PH" sz="1500">
                <a:solidFill>
                  <a:srgbClr val="1F6F8B"/>
                </a:solidFill>
                <a:latin typeface="IBM Plex Sans"/>
                <a:ea typeface="IBM Plex Sans"/>
                <a:cs typeface="IBM Plex Sans"/>
                <a:sym typeface="IBM Plex Sans"/>
              </a:rPr>
              <a:t>RQ4: Does the cost of a single insertion stay flat under a bucket-capped strategy?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97" name="Google Shape;497;hbf52a1989321739_1_188"/>
          <p:cNvSpPr txBox="1"/>
          <p:nvPr/>
        </p:nvSpPr>
        <p:spPr>
          <a:xfrm>
            <a:off x="425150" y="2265067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0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Bucket cost does not grow with graph size</a:t>
            </a:r>
            <a:endParaRPr sz="3000">
              <a:solidFill>
                <a:srgbClr val="14213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498" name="Google Shape;498;hbf52a1989321739_1_188"/>
          <p:cNvSpPr/>
          <p:nvPr/>
        </p:nvSpPr>
        <p:spPr>
          <a:xfrm>
            <a:off x="428325" y="2865142"/>
            <a:ext cx="3414300" cy="1333500"/>
          </a:xfrm>
          <a:prstGeom prst="roundRect">
            <a:avLst>
              <a:gd fmla="val 7381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hbf52a1989321739_1_188"/>
          <p:cNvSpPr/>
          <p:nvPr/>
        </p:nvSpPr>
        <p:spPr>
          <a:xfrm>
            <a:off x="608030" y="3044846"/>
            <a:ext cx="3146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Source Serif 4"/>
              <a:buNone/>
            </a:pPr>
            <a:r>
              <a:rPr b="1" i="0" lang="en-PH" sz="3000" u="none" cap="none" strike="noStrike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6.6–7.5</a:t>
            </a:r>
            <a:endParaRPr b="0" i="0" sz="30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0" name="Google Shape;500;hbf52a1989321739_1_188"/>
          <p:cNvSpPr/>
          <p:nvPr/>
        </p:nvSpPr>
        <p:spPr>
          <a:xfrm>
            <a:off x="608030" y="3521096"/>
            <a:ext cx="314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mean LLM calls per insertion, against a cap of 10 (n = 50 to 2,000)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1" name="Google Shape;501;hbf52a1989321739_1_188"/>
          <p:cNvSpPr/>
          <p:nvPr/>
        </p:nvSpPr>
        <p:spPr>
          <a:xfrm>
            <a:off x="4001232" y="2865142"/>
            <a:ext cx="3414300" cy="1333500"/>
          </a:xfrm>
          <a:prstGeom prst="roundRect">
            <a:avLst>
              <a:gd fmla="val 7381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hbf52a1989321739_1_188"/>
          <p:cNvSpPr/>
          <p:nvPr/>
        </p:nvSpPr>
        <p:spPr>
          <a:xfrm>
            <a:off x="4180937" y="3044846"/>
            <a:ext cx="3146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Source Serif 4"/>
              <a:buNone/>
            </a:pPr>
            <a:r>
              <a:rPr b="1" i="0" lang="en-PH" sz="3000" u="none" cap="none" strike="noStrike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5.15–5.77 s</a:t>
            </a:r>
            <a:endParaRPr b="0" i="0" sz="30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3" name="Google Shape;503;hbf52a1989321739_1_188"/>
          <p:cNvSpPr/>
          <p:nvPr/>
        </p:nvSpPr>
        <p:spPr>
          <a:xfrm>
            <a:off x="4180937" y="3521096"/>
            <a:ext cx="314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mean time per insertion; the shortlist step takes about 0.01 s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4" name="Google Shape;504;hbf52a1989321739_1_188"/>
          <p:cNvSpPr/>
          <p:nvPr/>
        </p:nvSpPr>
        <p:spPr>
          <a:xfrm>
            <a:off x="7574218" y="2865142"/>
            <a:ext cx="3414300" cy="1333500"/>
          </a:xfrm>
          <a:prstGeom prst="roundRect">
            <a:avLst>
              <a:gd fmla="val 7381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hbf52a1989321739_1_188"/>
          <p:cNvSpPr/>
          <p:nvPr/>
        </p:nvSpPr>
        <p:spPr>
          <a:xfrm>
            <a:off x="7753924" y="3044846"/>
            <a:ext cx="3146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000"/>
              <a:buFont typeface="Source Serif 4"/>
              <a:buNone/>
            </a:pPr>
            <a:r>
              <a:rPr b="1" i="0" lang="en-PH" sz="3000" u="none" cap="none" strike="noStrike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≈ 0</a:t>
            </a:r>
            <a:endParaRPr b="0" i="0" sz="30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6" name="Google Shape;506;hbf52a1989321739_1_188"/>
          <p:cNvSpPr/>
          <p:nvPr/>
        </p:nvSpPr>
        <p:spPr>
          <a:xfrm>
            <a:off x="7753924" y="3521096"/>
            <a:ext cx="314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400"/>
              <a:buFont typeface="IBM Plex Sans"/>
              <a:buNone/>
            </a:pPr>
            <a:r>
              <a:rPr b="0" i="0" lang="en-PH" sz="14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log-log slopes: calls −0.0004, time 0.0084; intervals contain zero</a:t>
            </a:r>
            <a:endParaRPr b="0" i="0" sz="14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7" name="Google Shape;507;hbf52a1989321739_1_188"/>
          <p:cNvSpPr/>
          <p:nvPr/>
        </p:nvSpPr>
        <p:spPr>
          <a:xfrm>
            <a:off x="425150" y="4379626"/>
            <a:ext cx="10566300" cy="1597800"/>
          </a:xfrm>
          <a:prstGeom prst="roundRect">
            <a:avLst>
              <a:gd fmla="val 7421" name="adj"/>
            </a:avLst>
          </a:prstGeom>
          <a:solidFill>
            <a:srgbClr val="E4EE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08" name="Google Shape;508;hbf52a1989321739_1_188"/>
          <p:cNvSpPr/>
          <p:nvPr/>
        </p:nvSpPr>
        <p:spPr>
          <a:xfrm>
            <a:off x="602950" y="4557417"/>
            <a:ext cx="105171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IBM Plex Sans"/>
              <a:buNone/>
            </a:pPr>
            <a:r>
              <a:rPr b="1" i="0" lang="en-PH" sz="1700" u="none" cap="none" strike="noStrike">
                <a:solidFill>
                  <a:srgbClr val="14213D"/>
                </a:solidFill>
                <a:latin typeface="IBM Plex Sans"/>
                <a:ea typeface="IBM Plex Sans"/>
                <a:cs typeface="IBM Plex Sans"/>
                <a:sym typeface="IBM Plex Sans"/>
              </a:rPr>
              <a:t>So what</a:t>
            </a:r>
            <a:endParaRPr b="0" i="0" sz="17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9" name="Google Shape;509;hbf52a1989321739_1_188"/>
          <p:cNvSpPr/>
          <p:nvPr/>
        </p:nvSpPr>
        <p:spPr>
          <a:xfrm>
            <a:off x="688300" y="4877450"/>
            <a:ext cx="100374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13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500"/>
              <a:buFont typeface="IBM Plex Sans"/>
              <a:buChar char="•"/>
            </a:pPr>
            <a:r>
              <a:rPr b="0" i="0" lang="en-PH" sz="15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Consistent with the premise behind the amortised bound in [4]: an insertion touches a bounded region of the graph.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13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500"/>
              <a:buFont typeface="IBM Plex Sans"/>
              <a:buChar char="•"/>
            </a:pPr>
            <a:r>
              <a:rPr b="0" i="0" lang="en-PH" sz="15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Flat calls are close to guaranteed by the cap, and S3 is equally flat, so flatness is not specific to bucket partitioning.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81356" lvl="0" marL="168656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500"/>
              <a:buFont typeface="IBM Plex Sans"/>
              <a:buChar char="•"/>
            </a:pPr>
            <a:r>
              <a:rPr b="0" i="0" lang="en-PH" sz="15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These are single un-amortised insertions; the amortised bound itself is not tested.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h1dd01f28c2d3f4cd_1_9"/>
          <p:cNvSpPr txBox="1"/>
          <p:nvPr>
            <p:ph type="title"/>
          </p:nvPr>
        </p:nvSpPr>
        <p:spPr>
          <a:xfrm>
            <a:off x="831850" y="1344168"/>
            <a:ext cx="9948900" cy="237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h1dd01f28c2d3f4cd_1_9"/>
          <p:cNvSpPr txBox="1"/>
          <p:nvPr>
            <p:ph idx="1" type="body"/>
          </p:nvPr>
        </p:nvSpPr>
        <p:spPr>
          <a:xfrm>
            <a:off x="831850" y="3748215"/>
            <a:ext cx="99489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h1dd01f28c2d3f4cd_1_9"/>
          <p:cNvSpPr/>
          <p:nvPr/>
        </p:nvSpPr>
        <p:spPr>
          <a:xfrm>
            <a:off x="0" y="25"/>
            <a:ext cx="12192000" cy="685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8" name="Google Shape;518;h1dd01f28c2d3f4cd_1_9" title="F3_premise_chec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9689"/>
            <a:ext cx="12192000" cy="4732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hbf52a1989321739_1_220"/>
          <p:cNvSpPr/>
          <p:nvPr/>
        </p:nvSpPr>
        <p:spPr>
          <a:xfrm>
            <a:off x="654300" y="1558025"/>
            <a:ext cx="9486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i="0" lang="en-PH" sz="1700" u="none" cap="none" strike="noStrike">
                <a:solidFill>
                  <a:srgbClr val="1F6F8B"/>
                </a:solidFill>
                <a:latin typeface="IBM Plex Sans"/>
                <a:ea typeface="IBM Plex Sans"/>
                <a:cs typeface="IBM Plex Sans"/>
                <a:sym typeface="IBM Plex Sans"/>
              </a:rPr>
              <a:t>LIMITS OF THESE RESULTS</a:t>
            </a:r>
            <a:endParaRPr b="0" i="0" sz="17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5" name="Google Shape;525;hbf52a1989321739_1_220"/>
          <p:cNvSpPr txBox="1"/>
          <p:nvPr/>
        </p:nvSpPr>
        <p:spPr>
          <a:xfrm>
            <a:off x="654300" y="2119860"/>
            <a:ext cx="9486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4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What the results do not show</a:t>
            </a:r>
            <a:endParaRPr sz="3400">
              <a:solidFill>
                <a:srgbClr val="14213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26" name="Google Shape;526;hbf52a1989321739_1_220"/>
          <p:cNvSpPr/>
          <p:nvPr/>
        </p:nvSpPr>
        <p:spPr>
          <a:xfrm>
            <a:off x="657075" y="2944275"/>
            <a:ext cx="9692400" cy="3436800"/>
          </a:xfrm>
          <a:prstGeom prst="roundRect">
            <a:avLst>
              <a:gd fmla="val 4646" name="adj"/>
            </a:avLst>
          </a:prstGeom>
          <a:solidFill>
            <a:srgbClr val="FFFDF8"/>
          </a:solidFill>
          <a:ln cap="flat" cmpd="sng" w="9525">
            <a:solidFill>
              <a:srgbClr val="DDD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7" name="Google Shape;527;hbf52a1989321739_1_220"/>
          <p:cNvSpPr/>
          <p:nvPr/>
        </p:nvSpPr>
        <p:spPr>
          <a:xfrm>
            <a:off x="933927" y="3260978"/>
            <a:ext cx="94755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8280" lvl="0" marL="18288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900"/>
              <a:buFont typeface="IBM Plex Sans"/>
              <a:buChar char="•"/>
            </a:pPr>
            <a:r>
              <a:rPr b="0" i="0" lang="en-PH" sz="19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run per configuration and 10 trials per size, so no hypothesis tests.</a:t>
            </a:r>
            <a:endParaRPr b="0" i="0" sz="19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8280" lvl="0" marL="18288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900"/>
              <a:buFont typeface="IBM Plex Sans"/>
              <a:buChar char="•"/>
            </a:pPr>
            <a:r>
              <a:rPr b="0" i="0" lang="en-PH" sz="19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One decision model, one prompt and bare concept names.</a:t>
            </a:r>
            <a:endParaRPr b="0" i="0" sz="19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8280" lvl="0" marL="18288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900"/>
              <a:buFont typeface="IBM Plex Sans"/>
              <a:buChar char="•"/>
            </a:pPr>
            <a:r>
              <a:rPr b="0" i="0" lang="en-PH" sz="19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Accuracy at only two sizes (29 and 141 concepts) that also differ in domain and density.</a:t>
            </a:r>
            <a:endParaRPr b="0" i="0" sz="19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8280" lvl="0" marL="18288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900"/>
              <a:buFont typeface="IBM Plex Sans"/>
              <a:buChar char="•"/>
            </a:pPr>
            <a:r>
              <a:rPr b="0" i="0" lang="en-PH" sz="19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synthetic concept pool is unverified and used for cost only.</a:t>
            </a:r>
            <a:endParaRPr b="0" i="0" sz="19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8280" lvl="0" marL="18288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900"/>
              <a:buFont typeface="IBM Plex Sans"/>
              <a:buChar char="•"/>
            </a:pPr>
            <a:r>
              <a:rPr b="0" i="0" lang="en-PH" sz="19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Single un-amortised insertions; the amortised bound of [4] is untested.</a:t>
            </a:r>
            <a:endParaRPr b="0" i="0" sz="19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08280" lvl="0" marL="18288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B4556"/>
              </a:buClr>
              <a:buSzPts val="1900"/>
              <a:buFont typeface="IBM Plex Sans"/>
              <a:buChar char="•"/>
            </a:pPr>
            <a:r>
              <a:rPr b="0" i="0" lang="en-PH" sz="1900" u="none" cap="none" strike="noStrike">
                <a:solidFill>
                  <a:srgbClr val="3B4556"/>
                </a:solidFill>
                <a:latin typeface="IBM Plex Sans"/>
                <a:ea typeface="IBM Plex Sans"/>
                <a:cs typeface="IBM Plex Sans"/>
                <a:sym typeface="IBM Plex Sans"/>
              </a:rPr>
              <a:t>Gates and weights were set post hoc, so classes label these measurements only.</a:t>
            </a:r>
            <a:endParaRPr b="0" i="0" sz="19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hbf52a1989321739_1_242"/>
          <p:cNvSpPr/>
          <p:nvPr/>
        </p:nvSpPr>
        <p:spPr>
          <a:xfrm>
            <a:off x="335850" y="1736900"/>
            <a:ext cx="10883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F6F8B"/>
              </a:buClr>
              <a:buSzPts val="1300"/>
              <a:buFont typeface="IBM Plex Sans"/>
              <a:buNone/>
            </a:pPr>
            <a:r>
              <a:rPr b="1" i="0" lang="en-PH" sz="1500" u="none" cap="none" strike="noStrike">
                <a:solidFill>
                  <a:srgbClr val="1F6F8B"/>
                </a:solidFill>
                <a:latin typeface="IBM Plex Sans"/>
                <a:ea typeface="IBM Plex Sans"/>
                <a:cs typeface="IBM Plex Sans"/>
                <a:sym typeface="IBM Plex Sans"/>
              </a:rPr>
              <a:t>SUMMARY</a:t>
            </a:r>
            <a:endParaRPr b="0" i="0" sz="1500" u="none" cap="none" strike="noStrike">
              <a:solidFill>
                <a:srgbClr val="14213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4" name="Google Shape;534;hbf52a1989321739_1_242"/>
          <p:cNvSpPr txBox="1"/>
          <p:nvPr/>
        </p:nvSpPr>
        <p:spPr>
          <a:xfrm>
            <a:off x="335850" y="2145842"/>
            <a:ext cx="108834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14213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Summary of findings</a:t>
            </a:r>
            <a:endParaRPr sz="3200">
              <a:solidFill>
                <a:srgbClr val="14213D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aphicFrame>
        <p:nvGraphicFramePr>
          <p:cNvPr id="535" name="Google Shape;535;hbf52a1989321739_1_242"/>
          <p:cNvGraphicFramePr/>
          <p:nvPr/>
        </p:nvGraphicFramePr>
        <p:xfrm>
          <a:off x="346010" y="27529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{10421629-3B28-4E87-9D99-BD921BF515C7}</a:tableStyleId>
              </a:tblPr>
              <a:tblGrid>
                <a:gridCol w="2322375"/>
                <a:gridCol w="8233875"/>
              </a:tblGrid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6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Research question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5EF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PH" sz="1600" u="none" cap="none" strike="noStrike">
                          <a:solidFill>
                            <a:srgbClr val="F7F5E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Finding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13D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RQ1 Cost vs n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Brute force grows linearly (1,713 s at n = 2,000). ANN and bounded buckets stay flat. The threshold grows with passing nodes, from a small base.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41E3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RQ2 Accuracy vs n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F1 is lower on the 141-node graph for S1, S3 and S4, but domain and density are confounded. Brute force over-links (precision 0.081).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  <a:tr h="6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RQ3 Comparison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Only S3 (ANN) is effective; S2 is conditionally effective; S1 and S4 are not. No strategy meets the pilot’s absolute accuracy bar.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DF8"/>
                    </a:solidFill>
                  </a:tcPr>
                </a:tc>
              </a:tr>
              <a:tr h="383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RQ4 Bucket premise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4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4556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PH" sz="1600" u="none" cap="none" strike="noStrike">
                          <a:solidFill>
                            <a:srgbClr val="3B455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Calls and time did not grow with n, consistent with the premise. The amortised bound is untested.</a:t>
                      </a:r>
                      <a:endParaRPr sz="16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A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C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8"/>
          <p:cNvSpPr txBox="1"/>
          <p:nvPr>
            <p:ph type="title"/>
          </p:nvPr>
        </p:nvSpPr>
        <p:spPr>
          <a:xfrm>
            <a:off x="1630680" y="2696128"/>
            <a:ext cx="8930640" cy="8733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5400"/>
              <a:buFont typeface="Garamond"/>
              <a:buNone/>
            </a:pPr>
            <a:r>
              <a:rPr lang="en-PH" sz="5400"/>
              <a:t>Thank you!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"/>
          <p:cNvSpPr txBox="1"/>
          <p:nvPr>
            <p:ph idx="2" type="body"/>
          </p:nvPr>
        </p:nvSpPr>
        <p:spPr>
          <a:xfrm>
            <a:off x="7578916" y="2561963"/>
            <a:ext cx="276523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</a:pPr>
            <a:r>
              <a:rPr lang="en-PH"/>
              <a:t>ccis@mmsu.edu.ph</a:t>
            </a:r>
            <a:endParaRPr/>
          </a:p>
        </p:txBody>
      </p:sp>
      <p:sp>
        <p:nvSpPr>
          <p:cNvPr id="546" name="Google Shape;546;p19"/>
          <p:cNvSpPr txBox="1"/>
          <p:nvPr>
            <p:ph idx="3" type="body"/>
          </p:nvPr>
        </p:nvSpPr>
        <p:spPr>
          <a:xfrm>
            <a:off x="7578916" y="2981062"/>
            <a:ext cx="3517709" cy="652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</a:pPr>
            <a:r>
              <a:rPr lang="en-PH"/>
              <a:t>CCIS Building, #16S Quiling Sur,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</a:pPr>
            <a:r>
              <a:rPr lang="en-PH"/>
              <a:t>City of Batac, Ilocos Norte, Philippines</a:t>
            </a:r>
            <a:endParaRPr/>
          </a:p>
        </p:txBody>
      </p:sp>
      <p:sp>
        <p:nvSpPr>
          <p:cNvPr id="547" name="Google Shape;547;p19"/>
          <p:cNvSpPr txBox="1"/>
          <p:nvPr>
            <p:ph idx="4" type="body"/>
          </p:nvPr>
        </p:nvSpPr>
        <p:spPr>
          <a:xfrm>
            <a:off x="7578915" y="4638413"/>
            <a:ext cx="447623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1400"/>
              <a:buNone/>
            </a:pPr>
            <a:r>
              <a:rPr lang="en-PH" sz="1400"/>
              <a:t>MMSU – College of Computing and Information Sciences</a:t>
            </a:r>
            <a:endParaRPr/>
          </a:p>
        </p:txBody>
      </p:sp>
      <p:sp>
        <p:nvSpPr>
          <p:cNvPr id="548" name="Google Shape;548;p19"/>
          <p:cNvSpPr txBox="1"/>
          <p:nvPr>
            <p:ph idx="5" type="body"/>
          </p:nvPr>
        </p:nvSpPr>
        <p:spPr>
          <a:xfrm>
            <a:off x="7578916" y="5038463"/>
            <a:ext cx="411778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4B05"/>
              </a:buClr>
              <a:buSzPts val="1600"/>
              <a:buNone/>
            </a:pPr>
            <a:r>
              <a:rPr lang="en-PH"/>
              <a:t>www.ccis.mmsu.edu.ph</a:t>
            </a:r>
            <a:endParaRPr/>
          </a:p>
        </p:txBody>
      </p:sp>
      <p:sp>
        <p:nvSpPr>
          <p:cNvPr id="549" name="Google Shape;549;p19"/>
          <p:cNvSpPr/>
          <p:nvPr/>
        </p:nvSpPr>
        <p:spPr>
          <a:xfrm>
            <a:off x="7109927" y="2142861"/>
            <a:ext cx="468988" cy="377502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 txBox="1"/>
          <p:nvPr/>
        </p:nvSpPr>
        <p:spPr>
          <a:xfrm>
            <a:off x="9955763" y="129695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MMSU">
      <a:dk1>
        <a:srgbClr val="000000"/>
      </a:dk1>
      <a:lt1>
        <a:srgbClr val="FFFFFF"/>
      </a:lt1>
      <a:dk2>
        <a:srgbClr val="0C4B05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2026-10-08T00:25:27Z</dcterms:created>
  <dc:creator>MMSU  Digital Media</dc:creator>
</cp:coreProperties>
</file>